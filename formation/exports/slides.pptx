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Poser le résultat du parcours sans présenter l'usine comme point de départ.
EXPLICATION
Le groupe sait déjà obtenir de petites applications. Le cours ajoute les réflexes pour cadrer, comprendre, vérifier et transmettre. Les quinze modules conservent la progression des bases à l'assemblage final.
QUESTION
Qu'avez-vous déjà créé avec une IA, et qu'avez-vous réellement vérifié ?
ATTENDU
Un exemple vécu et une incertitude sont suffisants ; il ne s'agit pas d'un concours de niveau.
TRANSITION
Présenter le laboratoire et les modalités de travail.
MINUTAGE
Accueil intégré aux 15 premières minutes du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Rendre l'apprenant autonome dans l'usage des supports.
EXPLICATION
Présenter INSTALLATION, les chapitres, EXERCICES et les corrigés séparés. Vérifier le premier repère Git et les quatre échecs pédagogiques du prototype. Les pauses ne comptent pas dans les 42 heures.
QUESTION
Que faire si l'agent ou le réseau est indisponible ?
ATTENDU
Utiliser les supports et le code locaux, avancer manuellement puis reprendre l'assistance ; nommer les preuves non exécutées.
TRANSITION
Entrer dans la distinction assistant/agent.
MINUTAGE
Inclus dans l'accueil du module 1, aucun temps ajouté au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Une réponse convaincante n'est pas une action vérifiée. Comparer un conseil copié dans un chat avec une lecture de fichier puis une commande de test visible. Faire distinguer le texte produit de la sortie de l'outil. Ne jamais demander un secret pour démontrer un accès.
QUESTION
Un fichier présent sur disque est-il forcément connu du modèle ?
ATTENDU
Non : il doit être chargé ou lu. Les limites de contexte obligent à sélectionner les sources utiles.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Mission : Résultat et limites. Modèle : Propose l'action. Outil : Exécute dans sa portée. Observation : Informe la suite. Faire nommer une capacité, une autorisation et une action pertinente : ce sont trois notions distinctes.
QUESTION
Quelle relation du schéma pourriez-vous vérifier dans le laboratoire ?
ATTENDU
Carte des pouvoirs, responsabilités et risques.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Comparer un conseil copié dans un chat avec une lecture de fichier puis une commande de test visible. Faire distinguer le texte produit de la sortie de l'outil. Ne jamais demander un secret pour démontrer un accès. Vigilance : Les participants attribuent au modèle des pouvoirs qu'aucun outil ne lui donne.
QUESTION
Un fichier présent sur disque est-il forcément connu du modèle ?
ATTENDU
Non : il doit être chargé ou lu. Les limites de contexte obligent à sélectionner les sources utiles.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E01 pendant 25 minutes puis E02 pendant 45 minutes. Pilote et relecteur échangent les rôles. Faire nommer une capacité, une autorisation et une action pertinente : ce sont trois notions distinctes. Les indices et extensions sont dans EXERCICES ; les réponses dans CORRIGES.
QUESTION
Quelle preuve ou quel livrable allez-vous remettre ?
ATTENDU
Carte des pouvoirs, responsabilités et risques.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Faire nommer une capacité, une autorisation et une action pertinente : ce sont trois notions distinctes. Erreur fréquente : Les participants attribuent au modèle des pouvoirs qu'aucun outil ne lui donne. Faire ensuite traiter Q1.1 à Q1.3 dans le chapitre, sans les réduire à la seule question projetée.
QUESTION
Un fichier présent sur disque est-il forcément connu du modèle ?
ATTENDU
Non : il doit être chargé ou lu. Les limites de contexte obligent à sélectionner les sources utiles.
TRANSITION
Annoncer le module 2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 Améliore l'application » ne dit pas quand s'arrêter. Partir de la demande vague du sujet E03. Recueillir trois interprétations, choisir le refus d'un titre invalide et écrire les exclusions. Montrer qu'une unité cohérente traverse parfois plusieurs fichiers.
QUESTION
Une unité de travail correspond-elle à un fichier ?
ATTENDU
Non : elle correspond à un comportement vérifiable. Elle peut traverser interface, serveur et stockage.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Acteur : Qui a le besoin ?. Résultat : Que doit-il obtenir ?. Périmètre : Quel changement cohérent ?. Acceptation : Comment le constater ?. Demander quel critère ferait refuser la livraison et qui doit trancher une inconnue produit.
QUESTION
Quelle relation du schéma pourriez-vous vérifier dans le laboratoire ?
ATTENDU
Une unité cohérente avec critères d'acceptation.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Partir de la demande vague du sujet E03. Recueillir trois interprétations, choisir le refus d'un titre invalide et écrire les exclusions. Montrer qu'une unité cohérente traverse parfois plusieurs fichiers. Vigilance : Le découpage suit les composants techniques sans livrer de résultat utilisable.
QUESTION
Une unité de travail correspond-elle à un fichier ?
ATTENDU
Non : elle correspond à un comportement vérifiable. Elle peut traverser interface, serveur et stockage.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E03 pendant 25 minutes puis E04 pendant 45 minutes. Pilote et relecteur échangent les rôles. Demander quel critère ferait refuser la livraison et qui doit trancher une inconnue produit. Les indices et extensions sont dans EXERCICES ; les réponses dans CORRIGES.
QUESTION
Quelle preuve ou quel livrable allez-vous remettre ?
ATTENDU
Une unité cohérente avec critères d'acceptation.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Demander quel critère ferait refuser la livraison et qui doit trancher une inconnue produit. Erreur fréquente : Le découpage suit les composants techniques sans livrer de résultat utilisable. Faire ensuite traiter Q2.1 à Q2.3 dans le chapitre, sans les réduire à la seule question projetée.
QUESTION
Une unité de travail correspond-elle à un fichier ?
ATTENDU
Non : elle correspond à un comportement vérifiable. Elle peut traverser interface, serveur et stockage.
TRANSITION
Annoncer le module 3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Une jolie interface peut masquer un fonctionnement inconnu. Sur une base neuve du prototype, créer une demande puis redémarrer le serveur sur le même fichier. Rechoisir Bob. Ouvrir ensuite do_POST, validate_title et l'INSERT pour justifier les flèches, sans corriger maintenant.
QUESTION
Recharger la page prouve-t-il la survie après arrêt du serveur ?
ATTENDU
Non. Il faut arrêter, redémarrer sur la même base puis retrouver la donnée ; la session simulée doit être recréée.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Navigateur : Saisir et envoyer. Route HTTP : Recevoir la demande. Règle serveur : Valider et autoriser. SQLite : Conserver la donnée. Faire échanger une fiche de reproduction, sans aide orale. Classer le contenu hostile comme donnée et non comme instruction.
QUESTION
Quelle relation du schéma pourriez-vous vérifier dans le laboratoire ?
ATTENDU
Protocole d'exploration et hiérarchie des sources.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Sur une base neuve du prototype, créer une demande puis redémarrer le serveur sur le même fichier. Rechoisir Bob. Ouvrir ensuite do_POST, validate_title et l'INSERT pour justifier les flèches, sans corriger maintenant. Vigilance : Une hypothèse sur le stockage est présentée comme un fait sans lecture ni redémarrage.
QUESTION
Recharger la page prouve-t-il la survie après arrêt du serveur ?
ATTENDU
Non. Il faut arrêter, redémarrer sur la même base puis retrouver la donnée ; la session simulée doit être recréée.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E05 pendant 25 minutes puis E06 pendant 45 minutes. Pilote et relecteur échangent les rôles. Faire échanger une fiche de reproduction, sans aide orale. Classer le contenu hostile comme donnée et non comme instruction. Les indices et extensions sont dans EXERCICES ; les réponses dans CORRIGES.
QUESTION
Quelle preuve ou quel livrable allez-vous remettre ?
ATTENDU
Protocole d'exploration et hiérarchie des sources.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Faire échanger une fiche de reproduction, sans aide orale. Classer le contenu hostile comme donnée et non comme instruction. Erreur fréquente : Une hypothèse sur le stockage est présentée comme un fait sans lecture ni redémarrage. Faire ensuite traiter Q3.1 à Q3.3 dans le chapitre, sans les réduire à la seule question projetée.
QUESTION
Recharger la page prouve-t-il la survie après arrêt du serveur ?
ATTENDU
Non. Il faut arrêter, redémarrer sur la même base puis retrouver la donnée ; la session simulée doit être recréée.
TRANSITION
Annoncer le module 4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Une nouvelle session ne doit pas deviner la suite. Afficher README, DAT, BACKLOG et une entrée JOURNAL. Fermer le chat, ouvrir une nouvelle session et donner uniquement les fichiers. Comparer sa prochaine action à celle prévue. Ne pas prétendre les défauts corrigés au module 4.
QUESTION
Quel document explique pourquoi la troncature a été refusée ?
ATTENDU
Le journal conserve la décision et son motif ; la règle courante possède ensuite une référence normative stable.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README : Comment exécuter ?. DAT : Comment cela fonctionne ?. BACKLOG : Que reste-t-il à faire ?. JOURNAL : Pourquoi et où reprendre ?. Demander ce que le repreneur a dû deviner, puis corriger le document responsable de cette information.
QUESTION
Quelle relation du schéma pourriez-vous vérifier dans le laboratoire ?
ATTENDU
README, DAT, JOURNAL, BACKLOG et CHANGELOG articulés.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Afficher README, DAT, BACKLOG et une entrée JOURNAL. Fermer le chat, ouvrir une nouvelle session et donner uniquement les fichiers. Comparer sa prochaine action à celle prévue. Ne pas prétendre les défauts corrigés au module 4. Vigilance : Les mêmes règles sont copiées dans tous les fichiers et deviennent contradictoires.
QUESTION
Quel document explique pourquoi la troncature a été refusée ?
ATTENDU
Le journal conserve la décision et son motif ; la règle courante possède ensuite une référence normative stable.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E07 pendant 25 minutes puis E08 pendant 45 minutes. Pilote et relecteur échangent les rôles. Demander ce que le repreneur a dû deviner, puis corriger le document responsable de cette information. Les indices et extensions sont dans EXERCICES ; les réponses dans CORRIGES.
QUESTION
Quelle preuve ou quel livrable allez-vous remettre ?
ATTENDU
README, DAT, JOURNAL, BACKLOG et CHANGELOG articulés.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Demander ce que le repreneur a dû deviner, puis corriger le document responsable de cette information. Erreur fréquente : Les mêmes règles sont copiées dans tous les fichiers et deviennent contradictoires. Faire ensuite traiter Q4.1 à Q4.3 dans le chapitre, sans les réduire à la seule question projetée.
QUESTION
Quel document explique pourquoi la troncature a été refusée ?
ATTENDU
Le journal conserve la décision et son motif ; la règle courante possède ensuite une référence normative stable.
TRANSITION
Annoncer le module 5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Une méthode réutilisable ne connaît pas votre port local. Classer huit règles de E09 avant de montrer le routage des fichiers. Expliquer Codex/AGENTS et Claude Code/CLAUDE à partir des sources officielles. Vérifier les fichiers effectivement lus, pas seulement leur reformulation.
QUESTION
CLAUDE_PROJECT.md est-il automatiquement découvert par son nom ?
ATTENDU
Ce cours ne le suppose pas. La lecture de ce compagnon est demandée explicitement dans le point d'entrée adapté à l'outil.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Global : Décider, prouver, rendre compte. Local : Données, commandes et métier. Faire corriger une règle mensongère de clôture et distinguer consigne textuelle et permission technique.
QUESTION
Quelle relation du schéma pourriez-vous vérifier dans le laboratoire ?
ATTENDU
Premier contrat global et compagnon local.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Classer huit règles de E09 avant de montrer le routage des fichiers. Expliquer Codex/AGENTS et Claude Code/CLAUDE à partir des sources officielles. Vérifier les fichiers effectivement lus, pas seulement leur reformulation. Vigilance : On copie le grand contrat du socle sans savoir quel problème chaque règle résout.
QUESTION
CLAUDE_PROJECT.md est-il automatiquement découvert par son nom ?
ATTENDU
Ce cours ne le suppose pas. La lecture de ce compagnon est demandée explicitement dans le point d'entrée adapté à l'outil.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E09 pendant 25 minutes puis E10 pendant 45 minutes. Pilote et relecteur échangent les rôles. Faire corriger une règle mensongère de clôture et distinguer consigne textuelle et permission technique. Les indices et extensions sont dans EXERCICES ; les réponses dans CORRIGES.
QUESTION
Quelle preuve ou quel livrable allez-vous remettre ?
ATTENDU
Premier contrat global et compagnon local.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Faire corriger une règle mensongère de clôture et distinguer consigne textuelle et permission technique. Erreur fréquente : On copie le grand contrat du socle sans savoir quel problème chaque règle résout. Faire ensuite traiter Q5.1 à Q5.3 dans le chapitre, sans les réduire à la seule question projetée.
QUESTION
CLAUDE_PROJECT.md est-il automatiquement découvert par son nom ?
ATTENDU
Ce cours ne le suppose pas. La lecture de ce compagnon est demandée explicitement dans le point d'entrée adapté à l'outil.
TRANSITION
Annoncer le module 6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 Un titre propre » possède trop d'interprétations. Remplir au tableau la table vide, espaces, 2, 3, 80, 81 et type non texte. Faire produire les résultats avant de regarder domain.py. Construire ensuite rôle ET propriété pour la clôture.
QUESTION
Pourquoi tester 2, 3, 80 et 81 plutôt que seulement 20 ?
ATTENDU
Ces cas distinguent les bornes inclusives de leurs voisins refusés. Un cas au milieu ne détecte pas une borne erronée.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Besoin : Résultat utilisateur. Contrat : Exemples et refus. Implémentation : Règle appliquée. Preuves : Contrat vérifié. Demander la réponse attendue et l'état de la base après chaque refus : les deux sont nécessaires.
QUESTION
Quelle relation du schéma pourriez-vous vérifier dans le laboratoire ?
ATTENDU
Spécification stable et chaîne de traçabilité.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Remplir au tableau la table vide, espaces, 2, 3, 80, 81 et type non texte. Faire produire les résultats avant de regarder domain.py. Construire ensuite rôle ET propriété pour la clôture. Vigilance : Un marqueur de référence est traité comme une preuve de pertinence du contrat cité.
QUESTION
Pourquoi tester 2, 3, 80 et 81 plutôt que seulement 20 ?
ATTENDU
Ces cas distinguent les bornes inclusives de leurs voisins refusés. Un cas au milieu ne détecte pas une borne erronée.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E11 pendant 25 minutes puis E12 pendant 45 minutes. Pilote et relecteur échangent les rôles. Demander la réponse attendue et l'état de la base après chaque refus : les deux sont nécessaires. Les indices et extensions sont dans EXERCICES ; les réponses dans CORRIGES.
QUESTION
Quelle preuve ou quel livrable allez-vous remettre ?
ATTENDU
Spécification stable et chaîne de traçabilité.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Demander la réponse attendue et l'état de la base après chaque refus : les deux sont nécessaires. Erreur fréquente : Un marqueur de référence est traité comme une preuve de pertinence du contrat cité. Faire ensuite traiter Q6.1 à Q6.3 dans le chapitre, sans les réduire à la seule question projetée.
QUESTION
Pourquoi tester 2, 3, 80 et 81 plutôt que seulement 20 ?
ATTENDU
Ces cas distinguent les bornes inclusives de leurs voisins refusés. Un cas au milieu ne détecte pas une borne erronée.
TRANSITION
Annoncer le module 7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 checkpoint n'est pas une livraison. Réordonner les cartes d'une session. Montrer une spécification déjà écrite : la reprise la lit, elle ne la réécrit pas par rituel. Présenter une clôture fictive avec build vert mais preuve API absente.
QUESTION
Une capture enregistrée mais jamais ouverte est-elle une observation ?
ATTENDU
Non : sa production est établie, pas son contenu ni sa conformité. L'unité reste en cours si cette preuve importante manque.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Comprendre : Lire et spécifier. Persister : Décisions et références. Implémenter : Modifier dans le périmètre. Vérifier : Prouver et transmettre. Faire remplacer « terminé » par un compte rendu précis de ce qui existe, a été exécuté et reste à faire.
QUESTION
Quelle relation du schéma pourriez-vous vérifier dans le laboratoire ?
ATTENDU
Protocole de session et checkpoints cohérents.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Réordonner les cartes d'une session. Montrer une spécification déjà écrite : la reprise la lit, elle ne la réécrit pas par rituel. Présenter une clôture fictive avec build vert mais preuve API absente. Vigilance : Le protocole est une liste de cases cochées indépendamment des résultats.
QUESTION
Une capture enregistrée mais jamais ouverte est-elle une observation ?
ATTENDU
Non : sa production est établie, pas son contenu ni sa conformité. L'unité reste en cours si cette preuve importante manque.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E13 pendant 25 minutes puis E14 pendant 45 minutes. Pilote et relecteur échangent les rôles. Faire remplacer « terminé » par un compte rendu précis de ce qui existe, a été exécuté et reste à faire. Les indices et extensions sont dans EXERCICES ; les réponses dans CORRIGES.
QUESTION
Quelle preuve ou quel livrable allez-vous remettre ?
ATTENDU
Protocole de session et checkpoints cohérents.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Faire remplacer « terminé » par un compte rendu précis de ce qui existe, a été exécuté et reste à faire. Erreur fréquente : Le protocole est une liste de cases cochées indépendamment des résultats. Faire ensuite traiter Q7.1 à Q7.3 dans le chapitre, sans les réduire à la seule question projetée.
QUESTION
Une capture enregistrée mais jamais ouverte est-elle une observation ?
ATTENDU
Non : sa production est établie, pas son contenu ni sa conformité. L'unité reste en cours si cette preuve importante manque.
TRANSITION
Annoncer le module 8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 Ça marche chez moi » décrit un poste, pas une procédure. Préparer une copie de départ, choisir un fichier de base neuf, compter les trois demandes. Ajouter une demande, arrêter puis redémarrer sur le même fichier. Vérifier que le seed ne réinitialise pas l'état. Ne pas supprimer la base d'un apprenant.
QUESTION
Un conteneur suffit-il à rendre tout l'environnement reproductible ?
ATTENDU
Non. Il reste les paramètres, accès, données, versions et services nécessaires ; leur contrat doit être documenté et vérifié.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Runtime : Version et dépendances. Configuration : Paramètres documentés. Services : Démarrage et disponibilité. Données : Schéma, seed et état initial. Faire classer port occupé, runtime absent et défaut de validation par couche ; une migration se prouve depuis un état existant.
QUESTION
Quelle relation du schéma pourriez-vous vérifier dans le laboratoire ?
ATTENDU
Bootstrap et contrat de seed rejouables.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Préparer une copie de départ, choisir un fichier de base neuf, compter les trois demandes. Ajouter une demande, arrêter puis redémarrer sur le même fichier. Vérifier que le seed ne réinitialise pas l'état. Ne pas supprimer la base d'un apprenant. Vigilance : Un défaut d'environnement est masqué en changeant le code ou en supprimant des données.
QUESTION
Un conteneur suffit-il à rendre tout l'environnement reproductible ?
ATTENDU
Non. Il reste les paramètres, accès, données, versions et services nécessaires ; leur contrat doit être documenté et vérifié.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E15 pendant 25 minutes puis E16 pendant 45 minutes. Pilote et relecteur échangent les rôles. Faire classer port occupé, runtime absent et défaut de validation par couche ; une migration se prouve depuis un état existant. Les indices et extensions sont dans EXERCICES ; les réponses dans CORRIGES.
QUESTION
Quelle preuve ou quel livrable allez-vous remettre ?
ATTENDU
Bootstrap et contrat de seed rejouables.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Faire classer port occupé, runtime absent et défaut de validation par couche ; une migration se prouve depuis un état existant. Erreur fréquente : Un défaut d'environnement est masqué en changeant le code ou en supprimant des données. Faire ensuite traiter Q8.1 à Q8.3 dans le chapitre, sans les réduire à la seule question projetée.
QUESTION
Un conteneur suffit-il à rendre tout l'environnement reproductible ?
ATTENDU
Non. Il reste les paramètres, accès, données, versions et services nécessaires ; leur contrat doit être documenté et vérifié.
TRANSITION
Annoncer le module 9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 seul voyant vert ne prouve pas toute l'application. Lancer un test des bornes sur le prototype, lire l'assertion, corriger validate_title dans la copie de démonstration et rejouer. Montrer ensuite le test HTTP/SQLite puis le parcours depuis l'accueil. Conserver les rouges de DEM-02.
QUESTION
Un test rouge d'import démontre-t-il le défaut métier recherché ?
ATTENDU
Non. Le dispositif doit d'abord fonctionner. Le rouge utile échoue sur le comportement que la correction doit changer.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Unitaire : La règle calcule juste. API + base : Le serveur refuse sans écrire. Parcours E2E : L'utilisateur atteint le résultat. Observation : Le rendu reste utilisable. Demander commande, état, assertion et portée. Faire ouvrir les captures et nommer une limite de chaque preuve.
QUESTION
Quelle relation du schéma pourriez-vous vérifier dans le laboratoire ?
ATTENDU
Matrice de preuves et correction DEM-01.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Lancer un test des bornes sur le prototype, lire l'assertion, corriger validate_title dans la copie de démonstration et rejouer. Montrer ensuite le test HTTP/SQLite puis le parcours depuis l'accueil. Conserver les rouges de DEM-02. Vigilance : Des tests sont supprimés ou ignorés pour obtenir une sortie entièrement verte.
QUESTION
Un test rouge d'import démontre-t-il le défaut métier recherché ?
ATTENDU
Non. Le dispositif doit d'abord fonctionner. Le rouge utile échoue sur le comportement que la correction doit changer.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E17 pendant 25 minutes puis E18 pendant 45 minutes. Pilote et relecteur échangent les rôles. Demander commande, état, assertion et portée. Faire ouvrir les captures et nommer une limite de chaque preuve. Les indices et extensions sont dans EXERCICES ; les réponses dans CORRIGES.
QUESTION
Quelle preuve ou quel livrable allez-vous remettre ?
ATTENDU
Matrice de preuves et correction DEM-01.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Demander commande, état, assertion et portée. Faire ouvrir les captures et nommer une limite de chaque preuve. Erreur fréquente : Des tests sont supprimés ou ignorés pour obtenir une sortie entièrement verte. Faire ensuite traiter Q9.1 à Q9.3 dans le chapitre, sans les réduire à la seule question projetée.
QUESTION
Un test rouge d'import démontre-t-il le défaut métier recherché ?
ATTENDU
Non. Le dispositif doit d'abord fonctionner. Le rouge utile échoue sur le comportement que la correction doit changer.
TRANSITION
Annoncer le module 10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Cacher un bouton ne protège pas une écriture. Montrer sur le prototype l'appel direct qui permet à Bob de clore la demande d'Alice. Corriger le prédicat sur une copie. Rejouer le refus et vérifier la base. Insister : les identités de ce laboratoire sont simulées, pas prêtes pour la production.
QUESTION
Pourquoi lire la ressource après une réponse 403 ?
ATTENDU
Pour détecter un serveur qui aurait écrit avant de refuser. La réponse seule ne prouve pas l'absence de mutation.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Alice : Responsable : toute demande. Bob : Contributeur : ses demandes. Eve : Lectrice : aucune écriture. Comparer UI, appel direct et données. Sur table, demander comment prouver une restauration et la compatibilité d'un retour arrière.
QUESTION
Quelle relation du schéma pourriez-vous vérifier dans le laboratoire ?
ATTENDU
Politique d'accès, correction DEM-02 et préparation de retour arrière.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Montrer sur le prototype l'appel direct qui permet à Bob de clore la demande d'Alice. Corriger le prédicat sur une copie. Rejouer le refus et vérifier la base. Insister : les identités de ce laboratoire sont simulées, pas prêtes pour la production. Vigilance : La propriété suffit à autoriser Eve, ou le propriétaire envoyé par le client est cru.
QUESTION
Pourquoi lire la ressource après une réponse 403 ?
ATTENDU
Pour détecter un serveur qui aurait écrit avant de refuser. La réponse seule ne prouve pas l'absence de mutation.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E19 pendant 25 minutes puis E20 pendant 45 minutes. Pilote et relecteur échangent les rôles. Comparer UI, appel direct et données. Sur table, demander comment prouver une restauration et la compatibilité d'un retour arrière. Les indices et extensions sont dans EXERCICES ; les réponses dans CORRIGES.
QUESTION
Quelle preuve ou quel livrable allez-vous remettre ?
ATTENDU
Politique d'accès, correction DEM-02 et préparation de retour arrière.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Comparer UI, appel direct et données. Sur table, demander comment prouver une restauration et la compatibilité d'un retour arrière. Erreur fréquente : La propriété suffit à autoriser Eve, ou le propriétaire envoyé par le client est cru. Faire ensuite traiter Q10.1 à Q10.3 dans le chapitre, sans les réduire à la seule question projetée.
QUESTION
Pourquoi lire la ressource après une réponse 403 ?
ATTENDU
Pour détecter un serveur qui aurait écrit avant de refuser. La réponse seule ne prouve pas l'absence de mutation.
TRANSITION
Annoncer le module 11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Le fichier ouvert n'est pas forcément le prochain commit. Faire prédire le contenu de chaque diff avant de l'afficher. Réindexer seulement après lecture. Puis dessiner A–B local et A–C distant : fetch révèle C mais n'intègre pas C. Montrer que --ff-only refuse une divergence.
QUESTION
Un commit local protège-t-il de la perte complète de la machine ?
ATTENDU
Non. Une autre copie autorisée doit posséder ce commit. Il faut aussi connaître l'effet d'un push, parfois couplé à un déploiement.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Fichier : État de travail. Index : Sélection par git add. Commit : Instantané local. Remote : Commits transmis. Demander la référence exacte de comparaison. Une synchronisation qui change le code impose de réexaminer les preuves.
QUESTION
Quelle relation du schéma pourriez-vous vérifier dans le laboratoire ?
ATTENDU
Discipline de commit, push et récupération.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Faire prédire le contenu de chaque diff avant de l'afficher. Réindexer seulement après lecture. Puis dessiner A–B local et A–C distant : fetch révèle C mais n'intègre pas C. Montrer que --ff-only refuse une divergence. Vigilance : Un push rejeté conduit à forcer, ou stash est présenté comme un retour avant un commit.
QUESTION
Un commit local protège-t-il de la perte complète de la machine ?
ATTENDU
Non. Une autre copie autorisée doit posséder ce commit. Il faut aussi connaître l'effet d'un push, parfois couplé à un déploiement.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E21 pendant 25 minutes puis E22 pendant 45 minutes. Pilote et relecteur échangent les rôles. Demander la référence exacte de comparaison. Une synchronisation qui change le code impose de réexaminer les preuves. Les indices et extensions sont dans EXERCICES ; les réponses dans CORRIGES.
QUESTION
Quelle preuve ou quel livrable allez-vous remettre ?
ATTENDU
Discipline de commit, push et récupération.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Demander la référence exacte de comparaison. Une synchronisation qui change le code impose de réexaminer les preuves. Erreur fréquente : Un push rejeté conduit à forcer, ou stash est présenté comme un retour avant un commit. Faire ensuite traiter Q11.1 à Q11.3 dans le chapitre, sans les réduire à la seule question projetée.
QUESTION
Un commit local protège-t-il de la perte complète de la machine ?
ATTENDU
Non. Une autre copie autorisée doit posséder ce commit. Il faut aussi connaître l'effet d'un push, parfois couplé à un déploiement.
TRANSITION
Annoncer le module 12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Plusieurs agents ne créent pas plusieurs responsables. Lire une mission de revue avec objectif, périmètre, sources et livrable. Montrer un constat avec fichier/impact/preuve puis une opinion sans source. Préparer la vérification sur un arbre stable sans édition concurrente.
QUESTION
Qui tranche si le reviewer propose un autre choix produit ?
ATTENDU
Le principal ou le responsable autorisé du produit. Le rôle auxiliaire rend des constats et ne reçoit pas implicitement cette autorité.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Principal : Seul éditeur et décideur. Explorer : Cartographier un flux. Reviewer : Relire un changement. Verifier : Exécuter une preuve ciblée. Faire comparer l'état avant/après vérification et distinguer cache attendu et modification suivie inattendue.
QUESTION
Quelle relation du schéma pourriez-vous vérifier dans le laboratoire ?
ATTENDU
Rôles explorer, reviewer et verifier avec contrats.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Lire une mission de revue avec objectif, périmètre, sources et livrable. Montrer un constat avec fichier/impact/preuve puis une opinion sans source. Préparer la vérification sur un arbre stable sans édition concurrente. Vigilance : On délègue une tâche triviale ou on laisse plusieurs écrivains modifier la même unité.
QUESTION
Qui tranche si le reviewer propose un autre choix produit ?
ATTENDU
Le principal ou le responsable autorisé du produit. Le rôle auxiliaire rend des constats et ne reçoit pas implicitement cette autorité.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E23 pendant 25 minutes puis E24 pendant 45 minutes. Pilote et relecteur échangent les rôles. Faire comparer l'état avant/après vérification et distinguer cache attendu et modification suivie inattendue. Les indices et extensions sont dans EXERCICES ; les réponses dans CORRIGES.
QUESTION
Quelle preuve ou quel livrable allez-vous remettre ?
ATTENDU
Rôles explorer, reviewer et verifier avec contrats.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Faire comparer l'état avant/après vérification et distinguer cache attendu et modification suivie inattendue. Erreur fréquente : On délègue une tâche triviale ou on laisse plusieurs écrivains modifier la même unité. Faire ensuite traiter Q12.1 à Q12.3 dans le chapitre, sans les réduire à la seule question projetée.
QUESTION
Qui tranche si le reviewer propose un autre choix produit ?
ATTENDU
Le principal ou le responsable autorisé du produit. Le rôle auxiliaire rend des constats et ne reçoit pas implicitement cette autorité.
TRANSITION
Annoncer le module 13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 contrôle mécanique ne connaît pas votre intention. Lire AUTOMATION puis le hook correspondant sans l'installer sur le laboratoire. Montrer que commit-msg reçoit un message et pre-commit la sélection. Expliquer qu'un clone ne prouve pas l'activation et que la CI distante reste à configurer.
QUESTION
Une CI verte sur un index vide a-t-elle vérifié le changement ?
ATTENDU
Pas si le contrôle attend les blobs indexés et ne les reçoit pas. Le dispositif doit préparer les bonnes entrées ou choisir une autre portée explicite.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Instruction : Fixe la règle. Hook / CI : Calcule un invariant. Revue : Examine la pertinence. Exécution : Éprouve le comportement. Faire nommer, pour chacun des quatre incidents, l'entrée manquante et la conclusion qui dépasse la preuve.
QUESTION
Quelle relation du schéma pourriez-vous vérifier dans le laboratoire ?
ATTENDU
Cartographie des hooks et de leurs entrées.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Lire AUTOMATION puis le hook correspondant sans l'installer sur le laboratoire. Montrer que commit-msg reçoit un message et pre-commit la sélection. Expliquer qu'un clone ne prouve pas l'activation et que la CI distante reste à configurer. Vigilance : La présence des scripts est confondue avec leur activation, ou le vert de forme avec la qualité métier.
QUESTION
Une CI verte sur un index vide a-t-elle vérifié le changement ?
ATTENDU
Pas si le contrôle attend les blobs indexés et ne les reçoit pas. Le dispositif doit préparer les bonnes entrées ou choisir une autre portée explicite.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E25 pendant 25 minutes puis E26 pendant 45 minutes. Pilote et relecteur échangent les rôles. Faire nommer, pour chacun des quatre incidents, l'entrée manquante et la conclusion qui dépasse la preuve. Les indices et extensions sont dans EXERCICES ; les réponses dans CORRIGES.
QUESTION
Quelle preuve ou quel livrable allez-vous remettre ?
ATTENDU
Cartographie des hooks et de leurs entrées.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Faire nommer, pour chacun des quatre incidents, l'entrée manquante et la conclusion qui dépasse la preuve. Erreur fréquente : La présence des scripts est confondue avec leur activation, ou le vert de forme avec la qualité métier. Faire ensuite traiter Q13.1 à Q13.3 dans le chapitre, sans les réduire à la seule question projetée.
QUESTION
Une CI verte sur un index vide a-t-elle vérifié le changement ?
ATTENDU
Pas si le contrôle attend les blobs indexés et ne les reçoit pas. Le dispositif doit préparer les bonnes entrées ou choisir une autre portée explicite.
TRANSITION
Annoncer le module 14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Une session autonome doit pouvoir être interrompue. Utiliser une carte d'interruption, pas un ordonnanceur réel. À la minute fictive 18, recueillir code/specification/preuves manquantes. Donner la passation à un autre binôme. Lire ensuite les hypothèses d'hôte de CloudWorker comme hypothèses à vérifier.
QUESTION
Le fichier docs/.routine installe-t-il une tâche planifiée ?
ATTENDU
Non. C'est un prompt de déclenchement ; un mécanisme externe, ses accès, sa destination et son arrêt doivent exister réellement.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Récupérer : Code et contexte. Réaliser : Une unité cohérente. Prouver : Résultats et limites. Transmettre : Checkpoint et passation. Demander ce qui subsiste si le poste disparaît. Si une synchronisation change le code, rejouer les preuves concernées.
QUESTION
Quelle relation du schéma pourriez-vous vérifier dans le laboratoire ?
ATTENDU
Cycle planifié et protocole de reprise.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Utiliser une carte d'interruption, pas un ordonnanceur réel. À la minute fictive 18, recueillir code/specification/preuves manquantes. Donner la passation à un autre binôme. Lire ensuite les hypothèses d'hôte de CloudWorker comme hypothèses à vérifier. Vigilance : La commande d'un hôte particulier est copiée ailleurs, ou un checkpoint local est supposé survivre à une machine éphémère.
QUESTION
Le fichier docs/.routine installe-t-il une tâche planifiée ?
ATTENDU
Non. C'est un prompt de déclenchement ; un mécanisme externe, ses accès, sa destination et son arrêt doivent exister réellement.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E27 pendant 25 minutes puis E28 pendant 45 minutes. Pilote et relecteur échangent les rôles. Demander ce qui subsiste si le poste disparaît. Si une synchronisation change le code, rejouer les preuves concernées. Les indices et extensions sont dans EXERCICES ; les réponses dans CORRIGES.
QUESTION
Quelle preuve ou quel livrable allez-vous remettre ?
ATTENDU
Cycle planifié et protocole de reprise.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Demander ce qui subsiste si le poste disparaît. Si une synchronisation change le code, rejouer les preuves concernées. Erreur fréquente : La commande d'un hôte particulier est copiée ailleurs, ou un checkpoint local est supposé survivre à une machine éphémère. Faire ensuite traiter Q14.1 à Q14.3 dans le chapitre, sans les réduire à la seule question projetée.
QUESTION
Le fichier docs/.routine installe-t-il une tâche planifiée ?
ATTENDU
Non. C'est un prompt de déclenchement ; un mécanisme externe, ses accès, sa destination et son arrêt doivent exister réellement.
TRANSITION
Annoncer le module 15 et repartir de l'artefact conservé.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apparaître le problème avant le vocabulaire.
EXPLICATION
Le socle final répond aux problèmes rencontrés avant lui. Faire reconstruire la carte de mémoire sans ouvrir le README du socle. Comparer ensuite aux vrais fichiers et noter ce qu'ils ne fournissent pas : produit, commandes de stack, CI distante, ordonnanceur et accès effectifs.
QUESTION
Quelle première preuve montre une adoption utile de la méthode ?
ATTENDU
Une petite unité dont le comportement, les preuves et la reprise fonctionnent réellement. Copier l'arborescence n'est pas cette preuve.
TRANSITION
Utiliser le schéma pour nommer les relations.
MINUTAGE
0–15 min : situation et premières notions ; accueil compris pour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Faire expliquer la relation représentée, pas mémoriser des boîtes.
EXPLICATION
Méthode : Décisions et responsabilités. Contexte produit : Contrats et commandes. Qualité : Preuves et documentation. Automatisation : Gardes, rôles et worker. Demander pour chaque fichier quelle question il résout et ce que le projet doit encore fournir. Préparer l'évaluation sans dévoiler la solution.
QUESTION
Quelle relation du schéma pourriez-vous vérifier dans le laboratoire ?
ATTENDU
Assemblage puis comparaison avec le dépôt. Demander une source ou une observation pour justifier le lien.
TRANSITION
Passer à l'exemple commenté et faire prédire son résultat.
MINUTAGE
15–30 min : concepts et reformulation.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Modéliser un raisonnement observable devant le groupe.
EXPLICATION
Faire reconstruire la carte de mémoire sans ouvrir le README du socle. Comparer ensuite aux vrais fichiers et noter ce qu'ils ne fournissent pas : produit, commandes de stack, CI distante, ordonnanceur et accès effectifs. Vigilance : La configuration est présentée comme un produit fini ou comme une garantie automatique de qualité.
QUESTION
Quelle première preuve montre une adoption utile de la méthode ?
ATTENDU
Une petite unité dont le comportement, les preuves et la reprise fonctionnent réellement. Copier l'arborescence n'est pas cette preuve.
TRANSITION
Afficher les deux missions. Faire lire les livrables avant de commencer.
MINUTAGE
30–55 min : démonstration commentée.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Passer du vocabulaire à une production vérifiable.
EXPLICATION
Lancer E29 pendant 25 minutes puis E30 pendant 45 minutes. Pilote et relecteur échangent les rôles. Demander pour chaque fichier quelle question il résout et ce que le projet doit encore fournir. Préparer l'évaluation sans dévoiler la solution. Les indices et extensions sont dans EXERCICES ; les réponses dans CORRIGES.
QUESTION
Quelle preuve ou quel livrable allez-vous remettre ?
ATTENDU
Assemblage puis comparaison avec le dépôt. Faire présenter une source réelle, pas seulement une affirmation.
TRANSITION
Comparer les productions, puis répondre aux trois questions du chapitre.
MINUTAGE
55–80 min : exercice impair ; 80–125 min : exercice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Qualifier le point de sortie et organiser une remédiation ciblée.
EXPLICATION
Demander pour chaque fichier quelle question il résout et ce que le projet doit encore fournir. Préparer l'évaluation sans dévoiler la solution. Erreur fréquente : La configuration est présentée comme un produit fini ou comme une garantie automatique de qualité. Faire ensuite traiter Q15.1 à Q15.3 dans le chapitre, sans les réduire à la seule question projetée.
QUESTION
Quelle première preuve montre une adoption utile de la méthode ?
ATTENDU
Une petite unité dont le comportement, les preuves et la reprise fonctionnent réellement. Copier l'arborescence n'est pas cette preuve.
TRANSITION
Distribuer EVALUATION sans montrer CORRIGE_FINAL.
MINUTAGE
125–140 min : débrief ; 140–150 min : quiz et passation.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Présenter l'évaluation comme une nouvelle unité et non un test de mémoire.
EXPLICATION
Distribuer EVALUATION. Le responsable peut rouvrir, les autres sont refusés sans mutation. Le titre, le propriétaire et l'identifiant restent inchangés. Refaire l'action ne duplique rien. Ne pas ouvrir le corrigé pendant l'évaluation.
QUESTION
Qu'est-ce qui change et qu'est-ce qui doit rester intact ?
ATTENDU
La transition fermé vers ouvert est nouvelle ; les données, la validation et les droits existants restent protégés.
TRANSITION
Faire établir contrat et plan avant de coder.
MINUTAGE
0–25 min : prise en main ; 25–60 min : contrat et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Garder visible la couverture attendue sans dicter l'implémentation.
EXPLICATION
Au jalon 160 minutes, demander un état du code et les preuves restant à produire. Les tests doivent qualifier les cas de leur version. Le corrigé peut utiliser une autre structure. L'inspection du parcours et des captures complète l'exécution HTTP.
QUESTION
Une réponse 403 suffit-elle à accepter le cas interdit ?
ATTENDU
Non : il faut constater la ressource inchangée, puis vérifier que les cas autorisés et les règles précédentes restent corrects.
TRANSITION
Faire préparer une remise traçable, même si une preuve manque.
MINUTAGE
60–160 min : réalisation ; 160–215 min : preuves.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INTENTION
Conclure par une évaluation explicable et un transfert concret.
EXPLICATION
Utiliser le barème détaillé d'EVALUATION ; une preuve inventée ou une autorisation contournée est critique. Chaque personne explique une décision et une preuve. Retour en trois phrases : comportement démontré, limite, exercice de remédiation. Prévoir un second évaluateur si la cohorte dépasse la capacité des restitutions.
QUESTION
Quelle petite unité de votre projet permettrait de réutiliser ces gestes ?
ATTENDU
Une unité bornée avec acteur, critère, risque, preuve et condition de reprise ; pas un objectif vague d'industrialisation.
TRANSITION
Proposer le corrigé final après remise et conserver le plan de transfert.
MINUTAGE
215–245 min : documentation/remise ; 245–270 min : restitution et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468C"/>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FFFFFF"/>
                </a:solidFill>
              </a:rPr>
              <a:t>PARCOURS</a:t>
            </a:r>
            <a:endParaRPr lang="en-US" sz="1300" dirty="0"/>
          </a:p>
        </p:txBody>
      </p:sp>
      <p:sp>
        <p:nvSpPr>
          <p:cNvPr id="3" name="Text 1"/>
          <p:cNvSpPr/>
          <p:nvPr/>
        </p:nvSpPr>
        <p:spPr>
          <a:xfrm>
            <a:off x="612648" y="987552"/>
            <a:ext cx="10972800" cy="1325880"/>
          </a:xfrm>
          <a:prstGeom prst="rect">
            <a:avLst/>
          </a:prstGeom>
          <a:noFill/>
          <a:ln/>
        </p:spPr>
        <p:txBody>
          <a:bodyPr wrap="square" lIns="0" tIns="0" rIns="0" bIns="0" rtlCol="0" anchor="ctr"/>
          <a:lstStyle/>
          <a:p>
            <a:pPr indent="0" marL="0">
              <a:buNone/>
            </a:pPr>
            <a:r>
              <a:rPr lang="en-US" sz="4000" b="1" dirty="0">
                <a:solidFill>
                  <a:srgbClr val="FFFFFF"/>
                </a:solidFill>
              </a:rPr>
              <a:t>Coder avec un agent</a:t>
            </a:r>
            <a:endParaRPr lang="en-US" sz="4000" dirty="0"/>
          </a:p>
        </p:txBody>
      </p:sp>
      <p:sp>
        <p:nvSpPr>
          <p:cNvPr id="4" name="Text 2"/>
          <p:cNvSpPr/>
          <p:nvPr/>
        </p:nvSpPr>
        <p:spPr>
          <a:xfrm>
            <a:off x="612648" y="2514600"/>
            <a:ext cx="10835640" cy="841248"/>
          </a:xfrm>
          <a:prstGeom prst="rect">
            <a:avLst/>
          </a:prstGeom>
          <a:noFill/>
          <a:ln/>
        </p:spPr>
        <p:txBody>
          <a:bodyPr wrap="square" lIns="0" tIns="0" rIns="0" bIns="0" rtlCol="0" anchor="t"/>
          <a:lstStyle/>
          <a:p>
            <a:pPr indent="0" marL="0">
              <a:buNone/>
            </a:pPr>
            <a:r>
              <a:rPr lang="en-US" sz="2200" dirty="0">
                <a:solidFill>
                  <a:srgbClr val="FFFFFF"/>
                </a:solidFill>
              </a:rPr>
              <a:t>Les bases, la méthode, puis l'usine.</a:t>
            </a:r>
            <a:endParaRPr lang="en-US" sz="2200" dirty="0"/>
          </a:p>
        </p:txBody>
      </p:sp>
      <p:sp>
        <p:nvSpPr>
          <p:cNvPr id="5" name="Shape 3"/>
          <p:cNvSpPr/>
          <p:nvPr/>
        </p:nvSpPr>
        <p:spPr>
          <a:xfrm>
            <a:off x="658368" y="3648456"/>
            <a:ext cx="64008" cy="64008"/>
          </a:xfrm>
          <a:prstGeom prst="rect">
            <a:avLst/>
          </a:prstGeom>
          <a:solidFill>
            <a:srgbClr val="D9CF4A"/>
          </a:solidFill>
          <a:ln w="12700">
            <a:solidFill>
              <a:srgbClr val="D9CF4A"/>
            </a:solidFill>
            <a:prstDash val="solid"/>
          </a:ln>
        </p:spPr>
      </p:sp>
      <p:sp>
        <p:nvSpPr>
          <p:cNvPr id="6" name="Text 4"/>
          <p:cNvSpPr/>
          <p:nvPr/>
        </p:nvSpPr>
        <p:spPr>
          <a:xfrm>
            <a:off x="886968" y="3538728"/>
            <a:ext cx="10424160" cy="667512"/>
          </a:xfrm>
          <a:prstGeom prst="rect">
            <a:avLst/>
          </a:prstGeom>
          <a:noFill/>
          <a:ln/>
        </p:spPr>
        <p:txBody>
          <a:bodyPr wrap="square" lIns="0" tIns="0" rIns="0" bIns="0" rtlCol="0" anchor="t"/>
          <a:lstStyle/>
          <a:p>
            <a:pPr indent="0" marL="0">
              <a:buNone/>
            </a:pPr>
            <a:r>
              <a:rPr lang="en-US" sz="2100" dirty="0">
                <a:solidFill>
                  <a:srgbClr val="FFFFFF"/>
                </a:solidFill>
              </a:rPr>
              <a:t>Syllabus · 15 modules · 42 heures</a:t>
            </a:r>
            <a:endParaRPr lang="en-US" sz="2100" dirty="0"/>
          </a:p>
        </p:txBody>
      </p:sp>
      <p:sp>
        <p:nvSpPr>
          <p:cNvPr id="7" name="Shape 5"/>
          <p:cNvSpPr/>
          <p:nvPr/>
        </p:nvSpPr>
        <p:spPr>
          <a:xfrm>
            <a:off x="658368" y="4389120"/>
            <a:ext cx="64008" cy="64008"/>
          </a:xfrm>
          <a:prstGeom prst="rect">
            <a:avLst/>
          </a:prstGeom>
          <a:solidFill>
            <a:srgbClr val="D9CF4A"/>
          </a:solidFill>
          <a:ln w="12700">
            <a:solidFill>
              <a:srgbClr val="D9CF4A"/>
            </a:solidFill>
            <a:prstDash val="solid"/>
          </a:ln>
        </p:spPr>
      </p:sp>
      <p:sp>
        <p:nvSpPr>
          <p:cNvPr id="8" name="Text 6"/>
          <p:cNvSpPr/>
          <p:nvPr/>
        </p:nvSpPr>
        <p:spPr>
          <a:xfrm>
            <a:off x="886968" y="4279392"/>
            <a:ext cx="10424160" cy="667512"/>
          </a:xfrm>
          <a:prstGeom prst="rect">
            <a:avLst/>
          </a:prstGeom>
          <a:noFill/>
          <a:ln/>
        </p:spPr>
        <p:txBody>
          <a:bodyPr wrap="square" lIns="0" tIns="0" rIns="0" bIns="0" rtlCol="0" anchor="t"/>
          <a:lstStyle/>
          <a:p>
            <a:pPr indent="0" marL="0">
              <a:buNone/>
            </a:pPr>
            <a:r>
              <a:rPr lang="en-US" sz="2100" dirty="0">
                <a:solidFill>
                  <a:srgbClr val="FFFFFF"/>
                </a:solidFill>
              </a:rPr>
              <a:t>Cours autonome + animation premium</a:t>
            </a:r>
            <a:endParaRPr lang="en-US" sz="2100" dirty="0"/>
          </a:p>
        </p:txBody>
      </p:sp>
      <p:sp>
        <p:nvSpPr>
          <p:cNvPr id="9" name="Shape 7"/>
          <p:cNvSpPr/>
          <p:nvPr/>
        </p:nvSpPr>
        <p:spPr>
          <a:xfrm>
            <a:off x="612648" y="5806440"/>
            <a:ext cx="10972800" cy="0"/>
          </a:xfrm>
          <a:prstGeom prst="line">
            <a:avLst/>
          </a:prstGeom>
          <a:noFill/>
          <a:ln w="25400">
            <a:solidFill>
              <a:srgbClr val="D9CF4A"/>
            </a:solidFill>
            <a:prstDash val="solid"/>
          </a:ln>
        </p:spPr>
      </p:sp>
      <p:sp>
        <p:nvSpPr>
          <p:cNvPr id="10" name="Text 8"/>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FFFFFF"/>
                </a:solidFill>
              </a:rPr>
              <a:t>Comprendre ce qui change. Prouver ce qui marche. Savoir reprendre.</a:t>
            </a:r>
            <a:endParaRPr lang="en-US" sz="1500" dirty="0"/>
          </a:p>
        </p:txBody>
      </p:sp>
      <p:sp>
        <p:nvSpPr>
          <p:cNvPr id="11" name="Text 9"/>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FFFFFF"/>
                </a:solidFill>
              </a:rPr>
              <a:t>P2Enjoy · Les bases, la méthode, puis l’usine</a:t>
            </a:r>
            <a:endParaRPr lang="en-US" sz="900" dirty="0"/>
          </a:p>
        </p:txBody>
      </p:sp>
      <p:sp>
        <p:nvSpPr>
          <p:cNvPr id="12" name="Text 10"/>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FFFFFF"/>
                </a:solidFill>
              </a:rPr>
              <a:t>1 / 80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PARCOURS</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parcours, deux usages</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Seul : lire, essayer, conserver ses preuves, comparer au corrigé.</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En groupe : démonstrations, binômes et retours individualisés.</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Même exigence : aucun résultat annoncé sans observation.</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Le laboratoire est local, avec données fictives et identités simulées.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 / 80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De l'assistant à l'agent</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réponse convaincante n'est pas une action vérifiée.</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Le modèle génère à partir d'un contexte limité.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Les outils lisent, écrivent ou exécutent.</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Le responsable fixe les pouvoirs et vérifie les effets.</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Distinguer génération, outils, contexte, autonomie et responsabilité.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 / 80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L'agent agit dans un environnement</a:t>
            </a:r>
            <a:endParaRPr lang="en-US" sz="3200" dirty="0"/>
          </a:p>
        </p:txBody>
      </p:sp>
      <p:pic>
        <p:nvPicPr>
          <p:cNvPr id="4" name="Image 0" descr="L'agent agit dans un environnement. Une réponse devient une action par un outil autorisé. Mission : Résultat et limites; Modèle : Propose l'action; Outil : Exécute dans sa portée; Observation : Informe la suite. Une capacité technique ne remplace ni l'autorisation ni la pertinence de l'action.">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Une capacité technique ne remplace ni l'autorisation ni la pertinence de l'action.</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 / 80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 Les tests passent. »</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Quelle commande ? Dans quel dossier ?</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Quel résultat ? Sur quel état du code ?</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 / 80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E01 · Classer quatre situations d'assistance.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E02 · Auditer une affirmation de tests réussis.</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une carte des pouvoirs et les observations manquantes.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E01 + E02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 / 80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 fichier présent sur disque est-il forcément connu du modèle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 / 80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Transformer une demande en unité de travail</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 Améliore l'application » ne dit pas quand s'arrêter.</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Nommer l'acteur et son résultat.</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Délimiter le changement et les exclusions.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Décrire un succès, un refus et la donnée préservée.</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Délimiter un résultat utile, observable et réalisable.</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8 / 80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Passer de l'ambition à une unité</a:t>
            </a:r>
            <a:endParaRPr lang="en-US" sz="3200" dirty="0"/>
          </a:p>
        </p:txBody>
      </p:sp>
      <p:pic>
        <p:nvPicPr>
          <p:cNvPr id="4" name="Image 0" descr="Passer de l'ambition à une unité. Un petit résultat peut traverser plusieurs fichiers. Acteur : Qui a le besoin ?; Résultat : Que doit-il obtenir ?; Périmètre : Quel changement cohérent ?; Acceptation : Comment le constater ?. Une inconnue produit devient une décision explicite avant l'implémentation.">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Une inconnue produit devient une décision explicite avant l'implémentation.</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9 / 80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Bob crée une demande.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Titre invalide → refus, aucune insertion.</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Titre valide → visible et conservé.</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Hors périmètre : notifications et statistiques.</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10 / 80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E03 · Découper une demande trop large.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E04 · Décider sans élargir le mandat.</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une unité et un relevé de décisions explicites.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E03 + E04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11 / 80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unité de travail correspond-elle à un fichier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12 / 80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Construire le contexte</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jolie interface peut masquer un fonctionnement inconnu.</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Partir d'un geste réellement observé.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Suivre routes, règles et données.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Séparer faits, hypothèses et décisions.</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Explorer les sources et suivre le fonctionnement réel.</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13 / 80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Suivre un geste de bout en bout</a:t>
            </a:r>
            <a:endParaRPr lang="en-US" sz="3200" dirty="0"/>
          </a:p>
        </p:txBody>
      </p:sp>
      <p:pic>
        <p:nvPicPr>
          <p:cNvPr id="4" name="Image 0" descr="Suivre un geste de bout en bout. Une création relie plusieurs responsabilités. Navigateur : Saisir et envoyer; Route HTTP : Recevoir la demande; Règle serveur : Valider et autoriser; SQLite : Conserver la donnée. Le retour visible doit correspondre à l'état réellement conservé.">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Le retour visible doit correspondre à l'état réellement conservé.</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14 / 80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Accueil → Bob → Nouvelle demande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Titre : trois espaces → Créer</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Attendu : refus sans nouvelle ligne.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Départ : un titre vide est conservé.</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15 / 80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E05 · Cartographier une création de bout en bout.</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E06 · Reproduire un défaut et traiter une donnée hostile.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une carte sourcée et une fiche rejouable.</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E05 + E06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16 / 80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Recharger la page prouve-t-il la survie après arrêt du serveur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17 / 80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Externaliser la mémoire</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nouvelle session ne doit pas deviner la suite.</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Donner une responsabilité à chaque document.</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la décision, son motif et l'état réel.</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Tester la passation sans historique de chat.</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Conserver les décisions et permettre la reprise d'une session.</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18 / 80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La mémoire appartient au projet</a:t>
            </a:r>
            <a:endParaRPr lang="en-US" sz="3200" dirty="0"/>
          </a:p>
        </p:txBody>
      </p:sp>
      <p:pic>
        <p:nvPicPr>
          <p:cNvPr id="4" name="Image 0" descr="La mémoire appartient au projet. Des documents courts répondent à des questions distinctes. README : Comment exécuter ?; DAT : Comment cela fonctionne ?; BACKLOG : Que reste-t-il à faire ?; JOURNAL : Pourquoi et où reprendre ?. Le CHANGELOG distingue changement présent et publication effectivement vérifiée.">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Le CHANGELOG distingue changement présent et publication effectivement vérifiée.</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19 / 80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Unité : DEM-01 · état : en cours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Référence : votre vrai commit de départ</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Observé : titre vide encore accepté</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Suite : préciser le contrat, puis corriger</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20 / 80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E07 · Répartir les informations entre documents.</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E08 · Faire reprendre le travail sans le chat.</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les fichiers et une passation liée à un vrai état Git.</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E07 + E08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21 / 80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Quel document explique pourquoi la troncature a été refusée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22 / 80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Séparer méthode globale et contexte local</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méthode réutilisable ne connaît pas votre port local.</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Global : responsabilités et manière de travailler.</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Local : métier, commandes, données et contraintes.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Le mécanisme de lecture doit être explicite.</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Classer les règles et faire lire les bonnes sources.</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23 / 80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Méthode partagée, contexte local</a:t>
            </a:r>
            <a:endParaRPr lang="en-US" sz="3200" dirty="0"/>
          </a:p>
        </p:txBody>
      </p:sp>
      <p:pic>
        <p:nvPicPr>
          <p:cNvPr id="4" name="Image 0" descr="Méthode partagée, contexte local. Une règle globale se comprend sans connaître le produit. Global : Décider, prouver, rendre compte; Local : Données, commandes et métier. CLAUDE.md / CLAUDE_PROJECT.md · DESIGN_SYSTEM / DESIGN_SYSTEM_APP">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CLAUDE.md / CLAUDE_PROJECT.md · DESIGN_SYSTEM / DESIGN_SYSTEM_APP</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24 / 80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AGENTS.md → lire CLAUDE.md</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Puis CLAUDE_PROJECT.md, s'il existe.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Global ≠ installation globale du logiciel.</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Un nom conventionnel ne garantit pas la lecture.</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25 / 80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E09 · Classer la méthode et le contexte.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E10 · Construire et contrôler le routage de lecture.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un contrat court et son compagnon local.</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E09 + E10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26 / 80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CLAUDE_PROJECT.md est-il automatiquement découvert par son nom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27 / 80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06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Spécifier avant d'implémenter</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 Un titre propre » possède trop d'interprétations.</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Écrire les règles avant leur réalisation.</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Utiliser les bornes et les refus comme exemples.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Relier contrat, unité, code et preuve.</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Relier besoin, exemples, backlog, code et tests.</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28 / 80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06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Relier besoin, code et preuve</a:t>
            </a:r>
            <a:endParaRPr lang="en-US" sz="3200" dirty="0"/>
          </a:p>
        </p:txBody>
      </p:sp>
      <p:pic>
        <p:nvPicPr>
          <p:cNvPr id="4" name="Image 0" descr="Relier besoin, code et preuve. Une référence stable permet la relecture. Besoin : Résultat utilisateur; Contrat : Exemples et refus; Implémentation : Règle appliquée; Preuves : Contrat vérifié. La documentation suit le comportement ; les références doivent rester pertinentes.">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documentation suit le comportement ; les références doivent rester pertinentes.</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29 / 80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06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Titre texte, espaces de bord retirés.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Longueur autorisée : 3 à 80 inclus.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2 → refus · 3 → accepté</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80 → accepté · 81 → refus</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30 / 80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06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E11 · Rédiger le contrat des titres.</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E12 · Établir la matrice d'accès et la traçabilité.</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deux unités verticales avec leurs preuves attendues.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E11 + E12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31 / 80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06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Pourquoi tester 2, 3, 80 et 81 plutôt que seulement 20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32 / 80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07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Concevoir la boucle d'exécution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 checkpoint n'est pas une livraison.</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Comprendre et persister avant d'implémenter.</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Vérifier puis corriger la cause du défaut.</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Transmettre l'état réel, y compris les preuves manquantes.</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Ordonner l'exploration, la décision, l'implémentation et les preuves.</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33 / 80</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07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La boucle d'exécution d'une unité</a:t>
            </a:r>
            <a:endParaRPr lang="en-US" sz="3200" dirty="0"/>
          </a:p>
        </p:txBody>
      </p:sp>
      <p:pic>
        <p:nvPicPr>
          <p:cNvPr id="4" name="Image 0" descr="La boucle d'exécution d'une unité. Des checkpoints conservent les états cohérents. Comprendre : Lire et spécifier; Persister : Décisions et références; Implémenter : Modifier dans le périmètre; Vérifier : Prouver et transmettre. Un défaut renvoie à sa cause ; un checkpoint ne signifie pas unité terminée.">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Un défaut renvoie à sa cause ; un checkpoint ne signifie pas unité terminée.</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34 / 80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07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Lire → décider → conserver</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Implémenter → relire → prouver</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Défaut → retour à la cause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Fin → preuves + documents + état durable</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35 / 80</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07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E13 · Ordonner une session et ses checkpoints.</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E14 · Refuser une fausse clôture.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un protocole et une définition de fin vérifiable.</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E13 + E14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36 / 80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07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capture enregistrée mais jamais ouverte est-elle une observation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37 / 80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08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Rendre l'environnement reproductible</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 Ça marche chez moi » décrit un poste, pas une procédure.</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Nommer runtime et dépendances.</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Documenter configuration, services et données.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Rejouer sans remplacer un état existant.</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Préparer runtime, configuration, services et données déterministes.</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38 / 80</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08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Ce qu'il faut pour reproduire</a:t>
            </a:r>
            <a:endParaRPr lang="en-US" sz="3200" dirty="0"/>
          </a:p>
        </p:txBody>
      </p:sp>
      <p:pic>
        <p:nvPicPr>
          <p:cNvPr id="4" name="Image 0" descr="Ce qu'il faut pour reproduire. Le code seul ne décrit pas tout l'état d'exécution. Runtime : Version et dépendances; Configuration : Paramètres documentés; Services : Démarrage et disponibilité; Données : Schéma, seed et état initial. Une procédure importante doit être rejouable depuis le README.">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Une procédure importante doit être rejouable depuis le README.</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39 / 80</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08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Code + Python + paramètres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Base neuve → schéma + trois demandes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Même base → données conservées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Nouveau nom → autre expérience isolée</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40 / 80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08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E15 · Rejouer le bootstrap et la persistance.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E16 · Diagnostiquer sans masquer la panne.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un README rejouable et un diagnostic par couche.</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E15 + E16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41 / 80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08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 conteneur suffit-il à rendre tout l'environnement reproductible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42 / 80</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09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Construire la preuve</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 seul voyant vert ne prouve pas toute l'application.</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Unitaire : la règle isolée.</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API et base : la route et les effets.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Parcours et observation : le résultat utilisable.</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Produire et interpréter les tests et observations utiles.</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43 / 80</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09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Une règle, plusieurs regards</a:t>
            </a:r>
            <a:endParaRPr lang="en-US" sz="3200" dirty="0"/>
          </a:p>
        </p:txBody>
      </p:sp>
      <p:pic>
        <p:nvPicPr>
          <p:cNvPr id="4" name="Image 0" descr="Une règle, plusieurs regards. Chaque preuve répond à une question différente. Unitaire : La règle calcule juste; API + base : Le serveur refuse sans écrire; Parcours E2E : L'utilisateur atteint le résultat; Observation : Le rendu reste utilisable. Un succès à un niveau ne dispense pas des autres preuves applicables.">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Un succès à un niveau ne dispense pas des autres preuves applicables.</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44 / 80</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09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Avant DEM-01 : quatre tests rouges.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Corriger uniquement le contrat des titres.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Après : ses preuves passent.</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Les défauts de droits restent visibles.</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45 / 80</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09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E17 · Corriger DEM-01 avec un rouge utile.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E18 · Prouver le parcours et inspecter le rendu.</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les résultats, captures observées et limites.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E17 + E18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46 / 80</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09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 test rouge d'import démontre-t-il le défaut métier recherché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47 / 80</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10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Encadrer sécurité et production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Cacher un bouton ne protège pas une écriture.</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Résoudre l'acteur côté serveur.</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Croiser rôle et propriété de la demande.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Refuser avant d'écrire ; relire l'état après refus.</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Appliquer les droits serveur et encadrer les opérations sensibles.</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48 / 80</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10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Qui peut clore cette demande ?</a:t>
            </a:r>
            <a:endParaRPr lang="en-US" sz="3200" dirty="0"/>
          </a:p>
        </p:txBody>
      </p:sp>
      <p:pic>
        <p:nvPicPr>
          <p:cNvPr id="4" name="Image 0" descr="Qui peut clore cette demande ?. Le serveur croise rôle et propriété de la ressource. Alice : Responsable : toute demande; Bob : Contributeur : ses demandes; Eve : Lectrice : aucune écriture. Un refus est prouvé par sa réponse ET par l'absence de mutation.">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Un refus est prouvé par sa réponse ET par l'absence de mutation.</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49 / 80</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10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Alice : peut clore toute demande.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Bob : peut clore uniquement les siennes.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Eve : aucune écriture.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Bob → demande d'Alice : 403 ET état inchangé.</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50 / 80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10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E19 · Identifier les valeurs non fiables.</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E20 · Corriger DEM-02 et préparer le retour arrière.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les sept tests verts et le parcours multi-profils.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E19 + E20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51 / 80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10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Pourquoi lire la ressource après une réponse 403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52 / 80</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Utiliser Git comme mémoire durable</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Le fichier ouvert n'est pas forcément le prochain commit.</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Travail, index, commit et remote sont distincts.</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Relire la sélection avant de la conserver.</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Fetch observe ; l'intégration modifie ; push transmet.</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Lire, conserver, synchroniser et récupérer un changement.</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53 / 80</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Quatre lieux, quatre états</a:t>
            </a:r>
            <a:endParaRPr lang="en-US" sz="3200" dirty="0"/>
          </a:p>
        </p:txBody>
      </p:sp>
      <p:pic>
        <p:nvPicPr>
          <p:cNvPr id="4" name="Image 0" descr="Quatre lieux, quatre états. L'édition, la sélection, l'historique et la copie distante sont distincts. Fichier : État de travail; Index : Sélection par git add; Commit : Instantané local; Remote : Commits transmis. git diff examine le travail ; git diff --cached examine la sélection.">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git diff examine le travail ; git diff --cached examine la sélection.</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54 / 80</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Écrire « v1 » → git add</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Écrire « v2 » → git diff</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Le prochain commit contient encore « v1 ».</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git diff --cached montre la sélection.</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55 / 80</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E21 · Observer l'index et créer un checkpoint.</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E22 · Relire un changement qui dépasse la mission.</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le vrai hash, le diff retenu et les refus argumentés.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E21 + E22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56 / 80</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11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 commit local protège-t-il de la perte complète de la machine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57 / 80</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Orchestrer plusieurs agents</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Plusieurs agents ne créent pas plusieurs responsables.</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Le principal décide et reste seul éditeur.</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Une mission déléguée est indépendante et bornée.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Un résultat doit être vérifié avant synthèse.</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Attribuer des missions bornées avec une responsabilité unique.</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58 / 80</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responsable, des missions bornées</a:t>
            </a:r>
            <a:endParaRPr lang="en-US" sz="3200" dirty="0"/>
          </a:p>
        </p:txBody>
      </p:sp>
      <p:pic>
        <p:nvPicPr>
          <p:cNvPr id="4" name="Image 0" descr="Un responsable, des missions bornées. Le principal vérifie et décide ; les rôles auxiliaires rendent des constats. Principal : Seul éditeur et décideur; Explorer : Cartographier un flux; Reviewer : Relire un changement; Verifier : Exécuter une preuve ciblée. Le vérificateur compare l'état avant/après ; aucune édition concurrente.">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Le vérificateur compare l'état avant/après ; aucune édition concurrente.</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59 / 80</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Explorer : quel est le flux réel ?</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Reviewer : quel défaut contre le contrat ?</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Verifier : quelle preuve sur quel état ?</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Principal : vérifier, décider, intégrer.</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60 / 80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E23 · Rédiger une mission de revue bornée.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E24 · Vérifier sans édition concurrente.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contrat, observations et traitement d'une anomalie.</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E23 + E24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61 / 80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12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Qui tranche si le reviewer propose un autre choix produit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62 / 80</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Automatiser les invariants</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 contrôle mécanique ne connaît pas votre intention.</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Identifier l'événement qui déclenche le contrôle.</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Lire les entrées réellement examinées.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Distinguer forme, sens et comportement.</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Distinguer contrôles mécaniques, CI, preuves et jugement.</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63 / 80</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Ce que chaque contrôle établit</a:t>
            </a:r>
            <a:endParaRPr lang="en-US" sz="3200" dirty="0"/>
          </a:p>
        </p:txBody>
      </p:sp>
      <p:pic>
        <p:nvPicPr>
          <p:cNvPr id="4" name="Image 0" descr="Ce que chaque contrôle établit. La forme, le sens et le comportement ont des preuves différentes. Instruction : Fixe la règle; Hook / CI : Calcule un invariant; Revue : Examine la pertinence; Exécution : Éprouve le comportement. Les entrées du contrôle déterminent la portée de son résultat.">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Les entrées du contrôle déterminent la portée de son résultat.</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64 / 80</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Marqueur ajouté après git add :</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le fichier le contient, l'index non.</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Hook rouge : examiner le blob indexé.</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Ne pas désactiver le contrôle pour passer.</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65 / 80</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E25 · Cartographier les hooks et leurs limites.</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E26 · Analyser quatre incidents d'automatisation.</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événements, entrées, refus et paires de cas.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E25 + E26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66 / 80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13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CI verte sur un index vide a-t-elle vérifié le changement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67 / 80</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Passer au worker autonome</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Une session autonome doit pouvoir être interrompue.</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Récupérer un état durable connu.</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Borner budget, pouvoirs et destination.</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Laisser une passation et une condition d'arrêt.</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Construire une reprise après interruption avec limites et arrêt.</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68 / 80</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Une session qui laisse une reprise</a:t>
            </a:r>
            <a:endParaRPr lang="en-US" sz="3200" dirty="0"/>
          </a:p>
        </p:txBody>
      </p:sp>
      <p:pic>
        <p:nvPicPr>
          <p:cNvPr id="4" name="Image 0" descr="Une session qui laisse une reprise. L'état local éphémère doit devenir un état durable vérifiable. Récupérer : Code et contexte; Réaliser : Une unité cohérente; Prouver : Résultats et limites; Transmettre : Checkpoint et passation. Budget, autorité, destination et condition d'arrêt sont explicites.">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Budget, autorité, destination et condition d'arrêt sont explicites.</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69 / 80</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Budget fictif : 30 minutes.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Code cohérent à la minute 16.</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Interruption à 18 : preuves commencées.</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Checkpoint conservé ; unité encore en cours.</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70 / 80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E27 · Spécifier le worker sur table.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E28 · Interrompre, transmettre puis reprendre.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budget, passation et arrêt sans faux effet externe.</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E27 + E28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71 / 80</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14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Le fichier docs/.routine installe-t-il une tâche planifiée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La reprise suivante s'appuie sur ce résultat conservé.</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72 / 80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Assembler la software factory</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Le socle final répond aux problèmes rencontrés avant lui.</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Assembler méthode, contexte, mémoire et preuves.</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Ajouter les contrôles utiles et les rôles bornés.</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Qualifier l'adoption sur une petite unité réelle.</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Reconstruire la configuration finale et justifier chacune de ses pièces.</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73 / 80</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L'usine assemble les acquis</a:t>
            </a:r>
            <a:endParaRPr lang="en-US" sz="3200" dirty="0"/>
          </a:p>
        </p:txBody>
      </p:sp>
      <p:pic>
        <p:nvPicPr>
          <p:cNvPr id="4" name="Image 0" descr="L'usine assemble les acquis. Le socle final relie les gestes appris pendant le cours. Méthode : Décisions et responsabilités; Contexte produit : Contrats et commandes; Qualité : Preuves et documentation; Automatisation : Gardes, rôles et worker. Le projet ajoute sa stack, ses données, ses accès et ses services réels.">    </p:cNvPr>
          <p:cNvPicPr>
            <a:picLocks noChangeAspect="1"/>
          </p:cNvPicPr>
          <p:nvPr/>
        </p:nvPicPr>
        <p:blipFill>
          <a:blip r:embed="rId1"/>
          <a:stretch>
            <a:fillRect/>
          </a:stretch>
        </p:blipFill>
        <p:spPr>
          <a:xfrm>
            <a:off x="612648" y="2176272"/>
            <a:ext cx="10972800" cy="2743200"/>
          </a:xfrm>
          <a:prstGeom prst="rect">
            <a:avLst/>
          </a:prstGeom>
        </p:spPr>
      </p:pic>
      <p:sp>
        <p:nvSpPr>
          <p:cNvPr id="5" name="Shape 2"/>
          <p:cNvSpPr/>
          <p:nvPr/>
        </p:nvSpPr>
        <p:spPr>
          <a:xfrm>
            <a:off x="612648" y="5806440"/>
            <a:ext cx="10972800" cy="0"/>
          </a:xfrm>
          <a:prstGeom prst="line">
            <a:avLst/>
          </a:prstGeom>
          <a:noFill/>
          <a:ln w="25400">
            <a:solidFill>
              <a:srgbClr val="D9CF4A"/>
            </a:solidFill>
            <a:prstDash val="solid"/>
          </a:ln>
        </p:spPr>
      </p:sp>
      <p:sp>
        <p:nvSpPr>
          <p:cNvPr id="6" name="Text 3"/>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Le projet ajoute sa stack, ses données, ses accès et ses services réels.</a:t>
            </a:r>
            <a:endParaRPr lang="en-US" sz="1500" dirty="0"/>
          </a:p>
        </p:txBody>
      </p:sp>
      <p:sp>
        <p:nvSpPr>
          <p:cNvPr id="7" name="Text 4"/>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8" name="Text 5"/>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74 / 80</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Un exemple à examiner</a:t>
            </a:r>
            <a:endParaRPr lang="en-US" sz="3200" dirty="0"/>
          </a:p>
        </p:txBody>
      </p:sp>
      <p:sp>
        <p:nvSpPr>
          <p:cNvPr id="4" name="Shape 2"/>
          <p:cNvSpPr/>
          <p:nvPr/>
        </p:nvSpPr>
        <p:spPr>
          <a:xfrm>
            <a:off x="612648" y="2039112"/>
            <a:ext cx="10972800" cy="2788920"/>
          </a:xfrm>
          <a:prstGeom prst="rect">
            <a:avLst/>
          </a:prstGeom>
          <a:solidFill>
            <a:srgbClr val="F7F8FA"/>
          </a:solidFill>
          <a:ln w="12700">
            <a:solidFill>
              <a:srgbClr val="F7F8FA"/>
            </a:solidFill>
            <a:prstDash val="solid"/>
          </a:ln>
        </p:spPr>
      </p:sp>
      <p:sp>
        <p:nvSpPr>
          <p:cNvPr id="5" name="Shape 3"/>
          <p:cNvSpPr/>
          <p:nvPr/>
        </p:nvSpPr>
        <p:spPr>
          <a:xfrm>
            <a:off x="612648" y="2039112"/>
            <a:ext cx="64008" cy="2788920"/>
          </a:xfrm>
          <a:prstGeom prst="rect">
            <a:avLst/>
          </a:prstGeom>
          <a:solidFill>
            <a:srgbClr val="23468C"/>
          </a:solidFill>
          <a:ln w="12700">
            <a:solidFill>
              <a:srgbClr val="23468C"/>
            </a:solidFill>
            <a:prstDash val="solid"/>
          </a:ln>
        </p:spPr>
      </p:sp>
      <p:sp>
        <p:nvSpPr>
          <p:cNvPr id="6" name="Text 4"/>
          <p:cNvSpPr/>
          <p:nvPr/>
        </p:nvSpPr>
        <p:spPr>
          <a:xfrm>
            <a:off x="886968" y="2267712"/>
            <a:ext cx="10378440" cy="2377440"/>
          </a:xfrm>
          <a:prstGeom prst="rect">
            <a:avLst/>
          </a:prstGeom>
          <a:noFill/>
          <a:ln/>
        </p:spPr>
        <p:txBody>
          <a:bodyPr wrap="square" lIns="0" tIns="0" rIns="0" bIns="0" rtlCol="0" anchor="t"/>
          <a:lstStyle/>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Besoin vécu → pièce justifiée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Reprise → documents et Git</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Règle répétable → garde déterministe</a:t>
            </a:r>
            <a:endParaRPr lang="en-US" sz="2100" dirty="0"/>
          </a:p>
          <a:p>
            <a:pPr indent="0" marL="0">
              <a:spcAft>
                <a:spcPts val="800"/>
              </a:spcAft>
              <a:buNone/>
            </a:pPr>
            <a:r>
              <a:rPr lang="en-US" sz="2100" dirty="0">
                <a:solidFill>
                  <a:srgbClr val="0D0D0D"/>
                </a:solidFill>
                <a:latin typeface="Courier New" pitchFamily="34" charset="0"/>
                <a:ea typeface="Courier New" pitchFamily="34" charset="-122"/>
                <a:cs typeface="Courier New" pitchFamily="34" charset="-120"/>
              </a:rPr>
              <a:t>Automatisation → protocole + infrastructure</a:t>
            </a:r>
            <a:endParaRPr lang="en-US" sz="2100" dirty="0"/>
          </a:p>
        </p:txBody>
      </p:sp>
      <p:sp>
        <p:nvSpPr>
          <p:cNvPr id="7" name="Shape 5"/>
          <p:cNvSpPr/>
          <p:nvPr/>
        </p:nvSpPr>
        <p:spPr>
          <a:xfrm>
            <a:off x="612648" y="5806440"/>
            <a:ext cx="10972800" cy="0"/>
          </a:xfrm>
          <a:prstGeom prst="line">
            <a:avLst/>
          </a:prstGeom>
          <a:noFill/>
          <a:ln w="25400">
            <a:solidFill>
              <a:srgbClr val="D9CF4A"/>
            </a:solidFill>
            <a:prstDash val="solid"/>
          </a:ln>
        </p:spPr>
      </p:sp>
      <p:sp>
        <p:nvSpPr>
          <p:cNvPr id="8" name="Text 6"/>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Prédire → observer → expliquer l'écart.</a:t>
            </a:r>
            <a:endParaRPr lang="en-US" sz="1500" dirty="0"/>
          </a:p>
        </p:txBody>
      </p:sp>
      <p:sp>
        <p:nvSpPr>
          <p:cNvPr id="9" name="Text 7"/>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0" name="Text 8"/>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75 / 80</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À vous de produire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E29 · Reconstruire puis comparer l'assemblage.</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E30 · Préparer une adoption justifiée.</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Rendre une carte, des limites et une première unité à prouver.</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E29 + E30 · consignes complètes dans le cahier d'exercices</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76 / 80</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MODULE 15 / 15</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Vérifier votre compréhension</a:t>
            </a:r>
            <a:endParaRPr lang="en-US" sz="3200" dirty="0"/>
          </a:p>
        </p:txBody>
      </p:sp>
      <p:sp>
        <p:nvSpPr>
          <p:cNvPr id="4" name="Text 2"/>
          <p:cNvSpPr/>
          <p:nvPr/>
        </p:nvSpPr>
        <p:spPr>
          <a:xfrm>
            <a:off x="612648" y="1984248"/>
            <a:ext cx="10835640" cy="841248"/>
          </a:xfrm>
          <a:prstGeom prst="rect">
            <a:avLst/>
          </a:prstGeom>
          <a:noFill/>
          <a:ln/>
        </p:spPr>
        <p:txBody>
          <a:bodyPr wrap="square" lIns="0" tIns="0" rIns="0" bIns="0" rtlCol="0" anchor="t"/>
          <a:lstStyle/>
          <a:p>
            <a:pPr indent="0" marL="0">
              <a:buNone/>
            </a:pPr>
            <a:r>
              <a:rPr lang="en-US" sz="2200" dirty="0">
                <a:solidFill>
                  <a:srgbClr val="0D0D0D"/>
                </a:solidFill>
              </a:rPr>
              <a:t>Quelle première preuve montre une adoption utile de la méthode ?</a:t>
            </a:r>
            <a:endParaRPr lang="en-US" sz="2200" dirty="0"/>
          </a:p>
        </p:txBody>
      </p:sp>
      <p:sp>
        <p:nvSpPr>
          <p:cNvPr id="5" name="Shape 3"/>
          <p:cNvSpPr/>
          <p:nvPr/>
        </p:nvSpPr>
        <p:spPr>
          <a:xfrm>
            <a:off x="658368" y="3118104"/>
            <a:ext cx="64008" cy="64008"/>
          </a:xfrm>
          <a:prstGeom prst="rect">
            <a:avLst/>
          </a:prstGeom>
          <a:solidFill>
            <a:srgbClr val="23468C"/>
          </a:solidFill>
          <a:ln w="12700">
            <a:solidFill>
              <a:srgbClr val="23468C"/>
            </a:solidFill>
            <a:prstDash val="solid"/>
          </a:ln>
        </p:spPr>
      </p:sp>
      <p:sp>
        <p:nvSpPr>
          <p:cNvPr id="6" name="Text 4"/>
          <p:cNvSpPr/>
          <p:nvPr/>
        </p:nvSpPr>
        <p:spPr>
          <a:xfrm>
            <a:off x="886968" y="3008376"/>
            <a:ext cx="10424160" cy="667512"/>
          </a:xfrm>
          <a:prstGeom prst="rect">
            <a:avLst/>
          </a:prstGeom>
          <a:noFill/>
          <a:ln/>
        </p:spPr>
        <p:txBody>
          <a:bodyPr wrap="square" lIns="0" tIns="0" rIns="0" bIns="0" rtlCol="0" anchor="t"/>
          <a:lstStyle/>
          <a:p>
            <a:pPr indent="0" marL="0">
              <a:buNone/>
            </a:pPr>
            <a:r>
              <a:rPr lang="en-US" sz="2100" dirty="0">
                <a:solidFill>
                  <a:srgbClr val="0D0D0D"/>
                </a:solidFill>
              </a:rPr>
              <a:t>Répondre avant d'ouvrir le corrigé.</a:t>
            </a:r>
            <a:endParaRPr lang="en-US" sz="2100" dirty="0"/>
          </a:p>
        </p:txBody>
      </p:sp>
      <p:sp>
        <p:nvSpPr>
          <p:cNvPr id="7" name="Shape 5"/>
          <p:cNvSpPr/>
          <p:nvPr/>
        </p:nvSpPr>
        <p:spPr>
          <a:xfrm>
            <a:off x="658368" y="3858768"/>
            <a:ext cx="64008" cy="64008"/>
          </a:xfrm>
          <a:prstGeom prst="rect">
            <a:avLst/>
          </a:prstGeom>
          <a:solidFill>
            <a:srgbClr val="23468C"/>
          </a:solidFill>
          <a:ln w="12700">
            <a:solidFill>
              <a:srgbClr val="23468C"/>
            </a:solidFill>
            <a:prstDash val="solid"/>
          </a:ln>
        </p:spPr>
      </p:sp>
      <p:sp>
        <p:nvSpPr>
          <p:cNvPr id="8" name="Text 6"/>
          <p:cNvSpPr/>
          <p:nvPr/>
        </p:nvSpPr>
        <p:spPr>
          <a:xfrm>
            <a:off x="886968" y="3749040"/>
            <a:ext cx="10424160" cy="667512"/>
          </a:xfrm>
          <a:prstGeom prst="rect">
            <a:avLst/>
          </a:prstGeom>
          <a:noFill/>
          <a:ln/>
        </p:spPr>
        <p:txBody>
          <a:bodyPr wrap="square" lIns="0" tIns="0" rIns="0" bIns="0" rtlCol="0" anchor="t"/>
          <a:lstStyle/>
          <a:p>
            <a:pPr indent="0" marL="0">
              <a:buNone/>
            </a:pPr>
            <a:r>
              <a:rPr lang="en-US" sz="2100" dirty="0">
                <a:solidFill>
                  <a:srgbClr val="0D0D0D"/>
                </a:solidFill>
              </a:rPr>
              <a:t>Expliquer un contre-exemple.</a:t>
            </a:r>
            <a:endParaRPr lang="en-US" sz="2100" dirty="0"/>
          </a:p>
        </p:txBody>
      </p:sp>
      <p:sp>
        <p:nvSpPr>
          <p:cNvPr id="9" name="Shape 7"/>
          <p:cNvSpPr/>
          <p:nvPr/>
        </p:nvSpPr>
        <p:spPr>
          <a:xfrm>
            <a:off x="658368" y="4599432"/>
            <a:ext cx="64008" cy="64008"/>
          </a:xfrm>
          <a:prstGeom prst="rect">
            <a:avLst/>
          </a:prstGeom>
          <a:solidFill>
            <a:srgbClr val="23468C"/>
          </a:solidFill>
          <a:ln w="12700">
            <a:solidFill>
              <a:srgbClr val="23468C"/>
            </a:solidFill>
            <a:prstDash val="solid"/>
          </a:ln>
        </p:spPr>
      </p:sp>
      <p:sp>
        <p:nvSpPr>
          <p:cNvPr id="10" name="Text 8"/>
          <p:cNvSpPr/>
          <p:nvPr/>
        </p:nvSpPr>
        <p:spPr>
          <a:xfrm>
            <a:off x="886968" y="4489704"/>
            <a:ext cx="10424160" cy="667512"/>
          </a:xfrm>
          <a:prstGeom prst="rect">
            <a:avLst/>
          </a:prstGeom>
          <a:noFill/>
          <a:ln/>
        </p:spPr>
        <p:txBody>
          <a:bodyPr wrap="square" lIns="0" tIns="0" rIns="0" bIns="0" rtlCol="0" anchor="t"/>
          <a:lstStyle/>
          <a:p>
            <a:pPr indent="0" marL="0">
              <a:buNone/>
            </a:pPr>
            <a:r>
              <a:rPr lang="en-US" sz="2100" dirty="0">
                <a:solidFill>
                  <a:srgbClr val="0D0D0D"/>
                </a:solidFill>
              </a:rPr>
              <a:t>Conserver le livrable et la prochaine action.</a:t>
            </a:r>
            <a:endParaRPr lang="en-US" sz="2100" dirty="0"/>
          </a:p>
        </p:txBody>
      </p:sp>
      <p:sp>
        <p:nvSpPr>
          <p:cNvPr id="11" name="Shape 9"/>
          <p:cNvSpPr/>
          <p:nvPr/>
        </p:nvSpPr>
        <p:spPr>
          <a:xfrm>
            <a:off x="612648" y="5806440"/>
            <a:ext cx="10972800" cy="0"/>
          </a:xfrm>
          <a:prstGeom prst="line">
            <a:avLst/>
          </a:prstGeom>
          <a:noFill/>
          <a:ln w="25400">
            <a:solidFill>
              <a:srgbClr val="D9CF4A"/>
            </a:solidFill>
            <a:prstDash val="solid"/>
          </a:ln>
        </p:spPr>
      </p:sp>
      <p:sp>
        <p:nvSpPr>
          <p:cNvPr id="12" name="Text 10"/>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L'évaluation finale vérifie les gestes, pas la copie du socle.</a:t>
            </a:r>
            <a:endParaRPr lang="en-US" sz="1500" dirty="0"/>
          </a:p>
        </p:txBody>
      </p:sp>
      <p:sp>
        <p:nvSpPr>
          <p:cNvPr id="13" name="Text 11"/>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4" name="Text 12"/>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77 / 80</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23468C"/>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FFFFFF"/>
                </a:solidFill>
              </a:rPr>
              <a:t>ÉVALUATION FINALE</a:t>
            </a:r>
            <a:endParaRPr lang="en-US" sz="1300" dirty="0"/>
          </a:p>
        </p:txBody>
      </p:sp>
      <p:sp>
        <p:nvSpPr>
          <p:cNvPr id="3" name="Text 1"/>
          <p:cNvSpPr/>
          <p:nvPr/>
        </p:nvSpPr>
        <p:spPr>
          <a:xfrm>
            <a:off x="612648" y="987552"/>
            <a:ext cx="10972800" cy="1325880"/>
          </a:xfrm>
          <a:prstGeom prst="rect">
            <a:avLst/>
          </a:prstGeom>
          <a:noFill/>
          <a:ln/>
        </p:spPr>
        <p:txBody>
          <a:bodyPr wrap="square" lIns="0" tIns="0" rIns="0" bIns="0" rtlCol="0" anchor="ctr"/>
          <a:lstStyle/>
          <a:p>
            <a:pPr indent="0" marL="0">
              <a:buNone/>
            </a:pPr>
            <a:r>
              <a:rPr lang="en-US" sz="4000" b="1" dirty="0">
                <a:solidFill>
                  <a:srgbClr val="FFFFFF"/>
                </a:solidFill>
              </a:rPr>
              <a:t>Démontrer votre autonomie</a:t>
            </a:r>
            <a:endParaRPr lang="en-US" sz="4000" dirty="0"/>
          </a:p>
        </p:txBody>
      </p:sp>
      <p:sp>
        <p:nvSpPr>
          <p:cNvPr id="4" name="Text 2"/>
          <p:cNvSpPr/>
          <p:nvPr/>
        </p:nvSpPr>
        <p:spPr>
          <a:xfrm>
            <a:off x="612648" y="2514600"/>
            <a:ext cx="10835640" cy="841248"/>
          </a:xfrm>
          <a:prstGeom prst="rect">
            <a:avLst/>
          </a:prstGeom>
          <a:noFill/>
          <a:ln/>
        </p:spPr>
        <p:txBody>
          <a:bodyPr wrap="square" lIns="0" tIns="0" rIns="0" bIns="0" rtlCol="0" anchor="t"/>
          <a:lstStyle/>
          <a:p>
            <a:pPr indent="0" marL="0">
              <a:buNone/>
            </a:pPr>
            <a:r>
              <a:rPr lang="en-US" sz="2200" dirty="0">
                <a:solidFill>
                  <a:srgbClr val="FFFFFF"/>
                </a:solidFill>
              </a:rPr>
              <a:t>DEM-03 : permettre au responsable de rouvrir une demande.</a:t>
            </a:r>
            <a:endParaRPr lang="en-US" sz="2200" dirty="0"/>
          </a:p>
        </p:txBody>
      </p:sp>
      <p:sp>
        <p:nvSpPr>
          <p:cNvPr id="5" name="Shape 3"/>
          <p:cNvSpPr/>
          <p:nvPr/>
        </p:nvSpPr>
        <p:spPr>
          <a:xfrm>
            <a:off x="658368" y="3648456"/>
            <a:ext cx="64008" cy="64008"/>
          </a:xfrm>
          <a:prstGeom prst="rect">
            <a:avLst/>
          </a:prstGeom>
          <a:solidFill>
            <a:srgbClr val="D9CF4A"/>
          </a:solidFill>
          <a:ln w="12700">
            <a:solidFill>
              <a:srgbClr val="D9CF4A"/>
            </a:solidFill>
            <a:prstDash val="solid"/>
          </a:ln>
        </p:spPr>
      </p:sp>
      <p:sp>
        <p:nvSpPr>
          <p:cNvPr id="6" name="Text 4"/>
          <p:cNvSpPr/>
          <p:nvPr/>
        </p:nvSpPr>
        <p:spPr>
          <a:xfrm>
            <a:off x="886968" y="3538728"/>
            <a:ext cx="10424160" cy="667512"/>
          </a:xfrm>
          <a:prstGeom prst="rect">
            <a:avLst/>
          </a:prstGeom>
          <a:noFill/>
          <a:ln/>
        </p:spPr>
        <p:txBody>
          <a:bodyPr wrap="square" lIns="0" tIns="0" rIns="0" bIns="0" rtlCol="0" anchor="t"/>
          <a:lstStyle/>
          <a:p>
            <a:pPr indent="0" marL="0">
              <a:buNone/>
            </a:pPr>
            <a:r>
              <a:rPr lang="en-US" sz="2100" dirty="0">
                <a:solidFill>
                  <a:srgbClr val="FFFFFF"/>
                </a:solidFill>
              </a:rPr>
              <a:t>Partir de la référence corrigée.</a:t>
            </a:r>
            <a:endParaRPr lang="en-US" sz="2100" dirty="0"/>
          </a:p>
        </p:txBody>
      </p:sp>
      <p:sp>
        <p:nvSpPr>
          <p:cNvPr id="7" name="Shape 5"/>
          <p:cNvSpPr/>
          <p:nvPr/>
        </p:nvSpPr>
        <p:spPr>
          <a:xfrm>
            <a:off x="658368" y="4389120"/>
            <a:ext cx="64008" cy="64008"/>
          </a:xfrm>
          <a:prstGeom prst="rect">
            <a:avLst/>
          </a:prstGeom>
          <a:solidFill>
            <a:srgbClr val="D9CF4A"/>
          </a:solidFill>
          <a:ln w="12700">
            <a:solidFill>
              <a:srgbClr val="D9CF4A"/>
            </a:solidFill>
            <a:prstDash val="solid"/>
          </a:ln>
        </p:spPr>
      </p:sp>
      <p:sp>
        <p:nvSpPr>
          <p:cNvPr id="8" name="Text 6"/>
          <p:cNvSpPr/>
          <p:nvPr/>
        </p:nvSpPr>
        <p:spPr>
          <a:xfrm>
            <a:off x="886968" y="4279392"/>
            <a:ext cx="10424160" cy="667512"/>
          </a:xfrm>
          <a:prstGeom prst="rect">
            <a:avLst/>
          </a:prstGeom>
          <a:noFill/>
          <a:ln/>
        </p:spPr>
        <p:txBody>
          <a:bodyPr wrap="square" lIns="0" tIns="0" rIns="0" bIns="0" rtlCol="0" anchor="t"/>
          <a:lstStyle/>
          <a:p>
            <a:pPr indent="0" marL="0">
              <a:buNone/>
            </a:pPr>
            <a:r>
              <a:rPr lang="en-US" sz="2100" dirty="0">
                <a:solidFill>
                  <a:srgbClr val="FFFFFF"/>
                </a:solidFill>
              </a:rPr>
              <a:t>Livrer contrat, code, preuves et passation.</a:t>
            </a:r>
            <a:endParaRPr lang="en-US" sz="2100" dirty="0"/>
          </a:p>
        </p:txBody>
      </p:sp>
      <p:sp>
        <p:nvSpPr>
          <p:cNvPr id="9" name="Shape 7"/>
          <p:cNvSpPr/>
          <p:nvPr/>
        </p:nvSpPr>
        <p:spPr>
          <a:xfrm>
            <a:off x="612648" y="5806440"/>
            <a:ext cx="10972800" cy="0"/>
          </a:xfrm>
          <a:prstGeom prst="line">
            <a:avLst/>
          </a:prstGeom>
          <a:noFill/>
          <a:ln w="25400">
            <a:solidFill>
              <a:srgbClr val="D9CF4A"/>
            </a:solidFill>
            <a:prstDash val="solid"/>
          </a:ln>
        </p:spPr>
      </p:sp>
      <p:sp>
        <p:nvSpPr>
          <p:cNvPr id="10" name="Text 8"/>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FFFFFF"/>
                </a:solidFill>
              </a:rPr>
              <a:t>270 minutes · individuel · critères connus avant de commencer</a:t>
            </a:r>
            <a:endParaRPr lang="en-US" sz="1500" dirty="0"/>
          </a:p>
        </p:txBody>
      </p:sp>
      <p:sp>
        <p:nvSpPr>
          <p:cNvPr id="11" name="Text 9"/>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FFFFFF"/>
                </a:solidFill>
              </a:rPr>
              <a:t>P2Enjoy · Les bases, la méthode, puis l’usine</a:t>
            </a:r>
            <a:endParaRPr lang="en-US" sz="900" dirty="0"/>
          </a:p>
        </p:txBody>
      </p:sp>
      <p:sp>
        <p:nvSpPr>
          <p:cNvPr id="12" name="Text 10"/>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FFFFFF"/>
                </a:solidFill>
              </a:rPr>
              <a:t>78 / 80</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ÉVALUATION FINALE</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Prouver les succès et les refus</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Alice rouvre ; Bob et Eve sont refusés.</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Aucune mutation après refus ; répétition sans doublon.</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Parcours depuis l'accueil ; régressions rejouées.</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Le corrigé de référence contient douze tests ; leur nombre n'est pas le barème.</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79 / 80</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12648" y="438912"/>
            <a:ext cx="10881360" cy="274320"/>
          </a:xfrm>
          <a:prstGeom prst="rect">
            <a:avLst/>
          </a:prstGeom>
          <a:noFill/>
          <a:ln/>
        </p:spPr>
        <p:txBody>
          <a:bodyPr wrap="square" lIns="0" tIns="0" rIns="0" bIns="0" rtlCol="0" anchor="ctr"/>
          <a:lstStyle/>
          <a:p>
            <a:pPr indent="0" marL="0">
              <a:buNone/>
            </a:pPr>
            <a:r>
              <a:rPr lang="en-US" sz="1300" b="1" spc="200" kern="0" dirty="0">
                <a:solidFill>
                  <a:srgbClr val="23468C"/>
                </a:solidFill>
              </a:rPr>
              <a:t>ÉVALUATION FINALE</a:t>
            </a:r>
            <a:endParaRPr lang="en-US" sz="1300" dirty="0"/>
          </a:p>
        </p:txBody>
      </p:sp>
      <p:sp>
        <p:nvSpPr>
          <p:cNvPr id="3" name="Text 1"/>
          <p:cNvSpPr/>
          <p:nvPr/>
        </p:nvSpPr>
        <p:spPr>
          <a:xfrm>
            <a:off x="612648" y="868680"/>
            <a:ext cx="10972800" cy="960120"/>
          </a:xfrm>
          <a:prstGeom prst="rect">
            <a:avLst/>
          </a:prstGeom>
          <a:noFill/>
          <a:ln/>
        </p:spPr>
        <p:txBody>
          <a:bodyPr wrap="square" lIns="0" tIns="0" rIns="0" bIns="0" rtlCol="0" anchor="ctr"/>
          <a:lstStyle/>
          <a:p>
            <a:pPr indent="0" marL="0">
              <a:buNone/>
            </a:pPr>
            <a:r>
              <a:rPr lang="en-US" sz="3200" b="1" dirty="0">
                <a:solidFill>
                  <a:srgbClr val="0D0D0D"/>
                </a:solidFill>
              </a:rPr>
              <a:t>Rendre un état défendable</a:t>
            </a:r>
            <a:endParaRPr lang="en-US" sz="3200" dirty="0"/>
          </a:p>
        </p:txBody>
      </p:sp>
      <p:sp>
        <p:nvSpPr>
          <p:cNvPr id="4" name="Shape 2"/>
          <p:cNvSpPr/>
          <p:nvPr/>
        </p:nvSpPr>
        <p:spPr>
          <a:xfrm>
            <a:off x="658368" y="2093976"/>
            <a:ext cx="64008" cy="64008"/>
          </a:xfrm>
          <a:prstGeom prst="rect">
            <a:avLst/>
          </a:prstGeom>
          <a:solidFill>
            <a:srgbClr val="23468C"/>
          </a:solidFill>
          <a:ln w="12700">
            <a:solidFill>
              <a:srgbClr val="23468C"/>
            </a:solidFill>
            <a:prstDash val="solid"/>
          </a:ln>
        </p:spPr>
      </p:sp>
      <p:sp>
        <p:nvSpPr>
          <p:cNvPr id="5" name="Text 3"/>
          <p:cNvSpPr/>
          <p:nvPr/>
        </p:nvSpPr>
        <p:spPr>
          <a:xfrm>
            <a:off x="886968" y="1984248"/>
            <a:ext cx="10424160" cy="667512"/>
          </a:xfrm>
          <a:prstGeom prst="rect">
            <a:avLst/>
          </a:prstGeom>
          <a:noFill/>
          <a:ln/>
        </p:spPr>
        <p:txBody>
          <a:bodyPr wrap="square" lIns="0" tIns="0" rIns="0" bIns="0" rtlCol="0" anchor="t"/>
          <a:lstStyle/>
          <a:p>
            <a:pPr indent="0" marL="0">
              <a:buNone/>
            </a:pPr>
            <a:r>
              <a:rPr lang="en-US" sz="2100" dirty="0">
                <a:solidFill>
                  <a:srgbClr val="0D0D0D"/>
                </a:solidFill>
              </a:rPr>
              <a:t>Cadrage 10 · contrat 15 · code 20.</a:t>
            </a:r>
            <a:endParaRPr lang="en-US" sz="2100" dirty="0"/>
          </a:p>
        </p:txBody>
      </p:sp>
      <p:sp>
        <p:nvSpPr>
          <p:cNvPr id="6" name="Shape 4"/>
          <p:cNvSpPr/>
          <p:nvPr/>
        </p:nvSpPr>
        <p:spPr>
          <a:xfrm>
            <a:off x="658368" y="2834640"/>
            <a:ext cx="64008" cy="64008"/>
          </a:xfrm>
          <a:prstGeom prst="rect">
            <a:avLst/>
          </a:prstGeom>
          <a:solidFill>
            <a:srgbClr val="23468C"/>
          </a:solidFill>
          <a:ln w="12700">
            <a:solidFill>
              <a:srgbClr val="23468C"/>
            </a:solidFill>
            <a:prstDash val="solid"/>
          </a:ln>
        </p:spPr>
      </p:sp>
      <p:sp>
        <p:nvSpPr>
          <p:cNvPr id="7" name="Text 5"/>
          <p:cNvSpPr/>
          <p:nvPr/>
        </p:nvSpPr>
        <p:spPr>
          <a:xfrm>
            <a:off x="886968" y="2724912"/>
            <a:ext cx="10424160" cy="667512"/>
          </a:xfrm>
          <a:prstGeom prst="rect">
            <a:avLst/>
          </a:prstGeom>
          <a:noFill/>
          <a:ln/>
        </p:spPr>
        <p:txBody>
          <a:bodyPr wrap="square" lIns="0" tIns="0" rIns="0" bIns="0" rtlCol="0" anchor="t"/>
          <a:lstStyle/>
          <a:p>
            <a:pPr indent="0" marL="0">
              <a:buNone/>
            </a:pPr>
            <a:r>
              <a:rPr lang="en-US" sz="2100" dirty="0">
                <a:solidFill>
                  <a:srgbClr val="0D0D0D"/>
                </a:solidFill>
              </a:rPr>
              <a:t>Preuves 30 · documentation 15 · revue 10.</a:t>
            </a:r>
            <a:endParaRPr lang="en-US" sz="2100" dirty="0"/>
          </a:p>
        </p:txBody>
      </p:sp>
      <p:sp>
        <p:nvSpPr>
          <p:cNvPr id="8" name="Shape 6"/>
          <p:cNvSpPr/>
          <p:nvPr/>
        </p:nvSpPr>
        <p:spPr>
          <a:xfrm>
            <a:off x="658368" y="3575304"/>
            <a:ext cx="64008" cy="64008"/>
          </a:xfrm>
          <a:prstGeom prst="rect">
            <a:avLst/>
          </a:prstGeom>
          <a:solidFill>
            <a:srgbClr val="23468C"/>
          </a:solidFill>
          <a:ln w="12700">
            <a:solidFill>
              <a:srgbClr val="23468C"/>
            </a:solidFill>
            <a:prstDash val="solid"/>
          </a:ln>
        </p:spPr>
      </p:sp>
      <p:sp>
        <p:nvSpPr>
          <p:cNvPr id="9" name="Text 7"/>
          <p:cNvSpPr/>
          <p:nvPr/>
        </p:nvSpPr>
        <p:spPr>
          <a:xfrm>
            <a:off x="886968" y="3465576"/>
            <a:ext cx="10424160" cy="667512"/>
          </a:xfrm>
          <a:prstGeom prst="rect">
            <a:avLst/>
          </a:prstGeom>
          <a:noFill/>
          <a:ln/>
        </p:spPr>
        <p:txBody>
          <a:bodyPr wrap="square" lIns="0" tIns="0" rIns="0" bIns="0" rtlCol="0" anchor="t"/>
          <a:lstStyle/>
          <a:p>
            <a:pPr indent="0" marL="0">
              <a:buNone/>
            </a:pPr>
            <a:r>
              <a:rPr lang="en-US" sz="2100" dirty="0">
                <a:solidFill>
                  <a:srgbClr val="0D0D0D"/>
                </a:solidFill>
              </a:rPr>
              <a:t>Seuil : 70/100, sans faute critique définie au barème.</a:t>
            </a:r>
            <a:endParaRPr lang="en-US" sz="2100" dirty="0"/>
          </a:p>
        </p:txBody>
      </p:sp>
      <p:sp>
        <p:nvSpPr>
          <p:cNvPr id="10" name="Shape 8"/>
          <p:cNvSpPr/>
          <p:nvPr/>
        </p:nvSpPr>
        <p:spPr>
          <a:xfrm>
            <a:off x="612648" y="5806440"/>
            <a:ext cx="10972800" cy="0"/>
          </a:xfrm>
          <a:prstGeom prst="line">
            <a:avLst/>
          </a:prstGeom>
          <a:noFill/>
          <a:ln w="25400">
            <a:solidFill>
              <a:srgbClr val="D9CF4A"/>
            </a:solidFill>
            <a:prstDash val="solid"/>
          </a:ln>
        </p:spPr>
      </p:sp>
      <p:sp>
        <p:nvSpPr>
          <p:cNvPr id="11" name="Text 9"/>
          <p:cNvSpPr/>
          <p:nvPr/>
        </p:nvSpPr>
        <p:spPr>
          <a:xfrm>
            <a:off x="612648" y="5925312"/>
            <a:ext cx="10972800" cy="502920"/>
          </a:xfrm>
          <a:prstGeom prst="rect">
            <a:avLst/>
          </a:prstGeom>
          <a:noFill/>
          <a:ln/>
        </p:spPr>
        <p:txBody>
          <a:bodyPr wrap="square" lIns="0" tIns="0" rIns="0" bIns="0" rtlCol="0" anchor="t"/>
          <a:lstStyle/>
          <a:p>
            <a:pPr indent="0" marL="0">
              <a:buNone/>
            </a:pPr>
            <a:r>
              <a:rPr lang="en-US" sz="1500" b="1" dirty="0">
                <a:solidFill>
                  <a:srgbClr val="0D0D0D"/>
                </a:solidFill>
              </a:rPr>
              <a:t>Votre prochaine unité personnelle devient le premier transfert de la méthode.</a:t>
            </a:r>
            <a:endParaRPr lang="en-US" sz="1500" dirty="0"/>
          </a:p>
        </p:txBody>
      </p:sp>
      <p:sp>
        <p:nvSpPr>
          <p:cNvPr id="12" name="Text 10"/>
          <p:cNvSpPr/>
          <p:nvPr/>
        </p:nvSpPr>
        <p:spPr>
          <a:xfrm>
            <a:off x="612648" y="6547104"/>
            <a:ext cx="9144000" cy="137160"/>
          </a:xfrm>
          <a:prstGeom prst="rect">
            <a:avLst/>
          </a:prstGeom>
          <a:noFill/>
          <a:ln/>
        </p:spPr>
        <p:txBody>
          <a:bodyPr wrap="square" lIns="0" tIns="0" rIns="0" bIns="0" rtlCol="0" anchor="ctr"/>
          <a:lstStyle/>
          <a:p>
            <a:pPr indent="0" marL="0">
              <a:buNone/>
            </a:pPr>
            <a:r>
              <a:rPr lang="en-US" sz="900" dirty="0">
                <a:solidFill>
                  <a:srgbClr val="4B5563"/>
                </a:solidFill>
              </a:rPr>
              <a:t>P2Enjoy · Les bases, la méthode, puis l’usine</a:t>
            </a:r>
            <a:endParaRPr lang="en-US" sz="900" dirty="0"/>
          </a:p>
        </p:txBody>
      </p:sp>
      <p:sp>
        <p:nvSpPr>
          <p:cNvPr id="13" name="Text 11"/>
          <p:cNvSpPr/>
          <p:nvPr/>
        </p:nvSpPr>
        <p:spPr>
          <a:xfrm>
            <a:off x="10698480" y="6519672"/>
            <a:ext cx="868680" cy="182880"/>
          </a:xfrm>
          <a:prstGeom prst="rect">
            <a:avLst/>
          </a:prstGeom>
          <a:noFill/>
          <a:ln/>
        </p:spPr>
        <p:txBody>
          <a:bodyPr wrap="square" lIns="0" tIns="0" rIns="0" bIns="0" rtlCol="0" anchor="ctr"/>
          <a:lstStyle/>
          <a:p>
            <a:pPr algn="r" indent="0" marL="0">
              <a:buNone/>
            </a:pPr>
            <a:r>
              <a:rPr lang="en-US" sz="900" dirty="0">
                <a:solidFill>
                  <a:srgbClr val="4B5563"/>
                </a:solidFill>
              </a:rPr>
              <a:t>80 / 80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P2Enjoy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Coder avec un agent : les bases, la méthode, puis l’usine</dc:title>
  <dc:subject>Formation autonome et animation premium — syllabus</dc:subject>
  <dc:creator>P2Enjoy</dc:creator>
  <cp:lastModifiedBy>P2Enjoy</cp:lastModifiedBy>
  <cp:revision>1</cp:revision>
  <dcterms:created xsi:type="dcterms:W3CDTF">2026-09-07T11:08:17Z</dcterms:created>
  <dcterms:modified xsi:type="dcterms:W3CDTF">2026-09-07T11:08:17Z</dcterms:modified>
</cp:coreProperties>
</file>